
<file path=[Content_Types].xml><?xml version="1.0" encoding="utf-8"?>
<Types xmlns="http://schemas.openxmlformats.org/package/2006/content-types">
  <Default Extension="jfif" ContentType="image/jpe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68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25E16-606A-48A4-B1AA-0A3C06AE66D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ECB01-8027-4C13-A7C3-BD24D0601E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539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1ECB01-8027-4C13-A7C3-BD24D0601E8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417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29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59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022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15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7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025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49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368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442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71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7557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949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0921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871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276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15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4FA44-D0CF-4E05-BB53-AF93C7BCD9B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0A17A79-E81C-4339-81B6-F075A669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88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7" Type="http://schemas.openxmlformats.org/officeDocument/2006/relationships/slide" Target="slide8.xml"/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image" Target="../media/image4.web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/><Relationship Id="rId2" Type="http://schemas.openxmlformats.org/officeDocument/2006/relationships/hyperlink" Target="https://learningapps.org/view52301815" TargetMode="Externa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fif"/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f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11.web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7286" y="2042279"/>
            <a:ext cx="8915399" cy="1468800"/>
          </a:xfrm>
        </p:spPr>
        <p:txBody>
          <a:bodyPr>
            <a:normAutofit/>
          </a:bodyPr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«Памятники моей малой Родины»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427285" y="4066181"/>
            <a:ext cx="8596313" cy="2000747"/>
          </a:xfrm>
        </p:spPr>
        <p:txBody>
          <a:bodyPr>
            <a:noAutofit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у </a:t>
            </a:r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обучающихся, в том числе у обучающихся с ЗПР,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чувства патриотизма и любви к родному городу через изучение памятников исторического наследия Краснодара.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427285" y="665208"/>
            <a:ext cx="85963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Виртуальную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экскурсию для младших школьников, в том числе для обучающихся с задержкой психического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развития.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595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66800" y="560457"/>
            <a:ext cx="671530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Clr>
                <a:srgbClr val="000000"/>
              </a:buClr>
            </a:pPr>
            <a:r>
              <a:rPr lang="ru-RU" sz="4400" kern="0" dirty="0">
                <a:solidFill>
                  <a:srgbClr val="000000"/>
                </a:solidFill>
                <a:latin typeface="Century" panose="02040604050505020304" pitchFamily="18" charset="0"/>
                <a:cs typeface="Arial"/>
                <a:sym typeface="Arial"/>
              </a:rPr>
              <a:t>Воспитательные задачи</a:t>
            </a:r>
            <a:endParaRPr lang="ru-RU" sz="4400" kern="0" dirty="0">
              <a:solidFill>
                <a:srgbClr val="9BBB59"/>
              </a:solidFill>
              <a:latin typeface="Century" panose="02040604050505020304" pitchFamily="18" charset="0"/>
              <a:cs typeface="Arial"/>
              <a:sym typeface="Arial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762249" y="1602939"/>
            <a:ext cx="869632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Воспитание уважения к историческому прошлому и культурному наследию родного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города.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чувства гордости за малую Родину у обучающихся младшего школьного возраста, в том числе с ЗПР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интереса к изучению истории родного города и его достопримечательностей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Воспитание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любви к родному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городу,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бережного отношения к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памятникам истории и культуры у обучающихся, в том числе у обучающихся с ЗПР.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58363" y="577334"/>
            <a:ext cx="596176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Личностные результаты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2724148" y="1676399"/>
            <a:ext cx="4219575" cy="20764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эстетического восприятия через знакомство </a:t>
            </a:r>
            <a:r>
              <a:rPr lang="ru-RU" sz="24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 </a:t>
            </a:r>
            <a:r>
              <a:rPr lang="ru-RU" sz="24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скульптурным наследием родного города.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2724146" y="4248149"/>
            <a:ext cx="4219577" cy="20764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уважения к историческому прошлому и культурным традициям своего народа.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248522" y="1676398"/>
            <a:ext cx="4219577" cy="20764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чувства сопричастности к сохранению исторической памяти малой Родины.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248522" y="4248150"/>
            <a:ext cx="4219577" cy="20764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Воспитание бережного отношения к памятникам культуры и окружающей </a:t>
            </a:r>
            <a:r>
              <a:rPr lang="ru-RU" sz="24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среде </a:t>
            </a:r>
            <a:r>
              <a:rPr lang="ru-RU" sz="24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города Краснодара.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21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591F770D-AC3E-B171-B7A9-01E9815E89CB}"/>
              </a:ext>
            </a:extLst>
          </p:cNvPr>
          <p:cNvSpPr txBox="1">
            <a:spLocks/>
          </p:cNvSpPr>
          <p:nvPr/>
        </p:nvSpPr>
        <p:spPr>
          <a:xfrm>
            <a:off x="2287833" y="869828"/>
            <a:ext cx="2994549" cy="59474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для обучающихся: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id="{787C085D-2DB5-F1D2-98DD-A9F8F07179F8}"/>
              </a:ext>
            </a:extLst>
          </p:cNvPr>
          <p:cNvSpPr txBox="1">
            <a:spLocks/>
          </p:cNvSpPr>
          <p:nvPr/>
        </p:nvSpPr>
        <p:spPr>
          <a:xfrm>
            <a:off x="1474216" y="1757567"/>
            <a:ext cx="4621784" cy="3555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Clr>
                <a:srgbClr val="A53010"/>
              </a:buClr>
              <a:buFont typeface="Wingdings 3" charset="2"/>
              <a:buAutoNum type="arabicParenR"/>
              <a:defRPr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Сесть ровно;</a:t>
            </a:r>
          </a:p>
          <a:p>
            <a:pPr marL="342900" lvl="0" indent="-342900">
              <a:buClr>
                <a:srgbClr val="A53010"/>
              </a:buClr>
              <a:buFont typeface="Wingdings 3" charset="2"/>
              <a:buAutoNum type="arabicParenR"/>
              <a:defRPr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Внимательно читать информацию на слайде;</a:t>
            </a:r>
          </a:p>
          <a:p>
            <a:pPr marL="342900" lvl="0" indent="-342900">
              <a:buClr>
                <a:srgbClr val="A53010"/>
              </a:buClr>
              <a:buFont typeface="Wingdings 3" charset="2"/>
              <a:buAutoNum type="arabicParenR"/>
              <a:defRPr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Внимательно слушать аудиоматериал и видеоматериал;</a:t>
            </a:r>
          </a:p>
          <a:p>
            <a:pPr marL="342900" indent="-342900">
              <a:buClr>
                <a:srgbClr val="A53010"/>
              </a:buClr>
              <a:buFont typeface="Wingdings 3" charset="2"/>
              <a:buAutoNum type="arabicParenR"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Верно выполнять задания;</a:t>
            </a:r>
          </a:p>
          <a:p>
            <a:pPr marL="342900" lvl="0" indent="-342900">
              <a:buClr>
                <a:srgbClr val="A53010"/>
              </a:buClr>
              <a:buFont typeface="Wingdings 3" charset="2"/>
              <a:buAutoNum type="arabicParenR"/>
              <a:defRPr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мешать остальным</a:t>
            </a:r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721768" y="643979"/>
            <a:ext cx="4280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A53010"/>
              </a:buClr>
              <a:buSzTx/>
              <a:buFontTx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Опознавательные знаки:</a:t>
            </a:r>
            <a:endParaRPr kumimoji="0" lang="ru-RU" sz="28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Управляющая кнопка: &quot;На главную&quot; 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9C4575E-D55F-7022-4F25-13F170BEC6DE}"/>
              </a:ext>
            </a:extLst>
          </p:cNvPr>
          <p:cNvSpPr/>
          <p:nvPr/>
        </p:nvSpPr>
        <p:spPr>
          <a:xfrm>
            <a:off x="6699044" y="3069054"/>
            <a:ext cx="730455" cy="758949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Управляющая кнопка: звук 9">
            <a:hlinkClick r:id="" action="ppaction://noaction" highlightClick="1">
              <a:snd r:embed="rId2" name="applause.wav"/>
            </a:hlinkClick>
            <a:extLst>
              <a:ext uri="{FF2B5EF4-FFF2-40B4-BE49-F238E27FC236}">
                <a16:creationId xmlns:a16="http://schemas.microsoft.com/office/drawing/2014/main" id="{0C0CFCB7-F63B-9146-CB23-011618155B5E}"/>
              </a:ext>
            </a:extLst>
          </p:cNvPr>
          <p:cNvSpPr/>
          <p:nvPr/>
        </p:nvSpPr>
        <p:spPr>
          <a:xfrm>
            <a:off x="6719579" y="4376098"/>
            <a:ext cx="730455" cy="693321"/>
          </a:xfrm>
          <a:prstGeom prst="actionButtonSou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Управляющая кнопка: &quot;Видео&quot;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D905B34-EE92-A824-29D9-CE91DBA115B8}"/>
              </a:ext>
            </a:extLst>
          </p:cNvPr>
          <p:cNvSpPr/>
          <p:nvPr/>
        </p:nvSpPr>
        <p:spPr>
          <a:xfrm>
            <a:off x="6699044" y="5617514"/>
            <a:ext cx="730455" cy="716610"/>
          </a:xfrm>
          <a:prstGeom prst="actionButtonMovi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7737271" y="3198167"/>
            <a:ext cx="40094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Вернуться на главный слайд 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7737271" y="4491925"/>
            <a:ext cx="2249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Аудиоматериал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7737271" y="5744986"/>
            <a:ext cx="22008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Видеоматериал</a:t>
            </a:r>
          </a:p>
        </p:txBody>
      </p:sp>
      <p:sp>
        <p:nvSpPr>
          <p:cNvPr id="2" name="Управляющая кнопка: документ 1">
            <a:hlinkClick r:id="" action="ppaction://noaction" highlightClick="1"/>
          </p:cNvPr>
          <p:cNvSpPr/>
          <p:nvPr/>
        </p:nvSpPr>
        <p:spPr>
          <a:xfrm>
            <a:off x="6699044" y="1733606"/>
            <a:ext cx="750990" cy="787353"/>
          </a:xfrm>
          <a:prstGeom prst="actionButton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7737271" y="1896449"/>
            <a:ext cx="2828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 на текст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58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оризонтальный свиток 6"/>
          <p:cNvSpPr/>
          <p:nvPr/>
        </p:nvSpPr>
        <p:spPr>
          <a:xfrm>
            <a:off x="2428875" y="3429000"/>
            <a:ext cx="8801100" cy="3362325"/>
          </a:xfrm>
          <a:prstGeom prst="horizontalScroll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Добро пожаловать в Краснодар - южную столицу России и сердце богатой кубанской земли. Наш город, основанный черноморскими казаками, хранит вековую историю, отраженную в его архитектуре и монументах</a:t>
            </a:r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Сегодня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 совершим виртуальную прогулку по главным памятникам Краснодара, чтобы прикоснуться к прошлому и почувствовать неповторимый дух этого солнечного города.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" r="5019"/>
          <a:stretch/>
        </p:blipFill>
        <p:spPr>
          <a:xfrm>
            <a:off x="3624262" y="155689"/>
            <a:ext cx="5991225" cy="35846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/>
          <p:cNvSpPr txBox="1"/>
          <p:nvPr/>
        </p:nvSpPr>
        <p:spPr>
          <a:xfrm>
            <a:off x="881061" y="839212"/>
            <a:ext cx="2257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lang="ru-RU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Управляющая кнопка: звук 1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10401300" y="452437"/>
            <a:ext cx="1076325" cy="971550"/>
          </a:xfrm>
          <a:prstGeom prst="actionButtonSou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742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879" y="250220"/>
            <a:ext cx="3323713" cy="264209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6" y="3558475"/>
            <a:ext cx="3721551" cy="248254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149" y="3558475"/>
            <a:ext cx="3721551" cy="2482547"/>
          </a:xfrm>
          <a:prstGeom prst="rect">
            <a:avLst/>
          </a:prstGeom>
        </p:spPr>
      </p:pic>
      <p:sp>
        <p:nvSpPr>
          <p:cNvPr id="11" name="Стрелка вправо 10"/>
          <p:cNvSpPr/>
          <p:nvPr/>
        </p:nvSpPr>
        <p:spPr>
          <a:xfrm>
            <a:off x="5128024" y="1413935"/>
            <a:ext cx="771525" cy="3146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низ 11"/>
          <p:cNvSpPr/>
          <p:nvPr/>
        </p:nvSpPr>
        <p:spPr>
          <a:xfrm>
            <a:off x="8695557" y="2974386"/>
            <a:ext cx="263302" cy="502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лево 12"/>
          <p:cNvSpPr/>
          <p:nvPr/>
        </p:nvSpPr>
        <p:spPr>
          <a:xfrm>
            <a:off x="6205536" y="4489819"/>
            <a:ext cx="881064" cy="28916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827208" y="351325"/>
            <a:ext cx="2833429" cy="90527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Памятник Святой Великомученицы Екатерины</a:t>
            </a: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7774009" y="5778273"/>
            <a:ext cx="2794403" cy="92891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Запорожцы пишут письмо Турецкому султану</a:t>
            </a: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2728060" y="5884376"/>
            <a:ext cx="2785727" cy="822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Памятник советским воинам-освободителям 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2092502" y="847991"/>
            <a:ext cx="2804357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 </a:t>
            </a:r>
            <a:endParaRPr lang="ru-RU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экскурсии</a:t>
            </a:r>
            <a:endParaRPr lang="ru-RU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Управляющая кнопка: документ 1">
            <a:hlinkClick r:id="rId5" action="ppaction://hlinksldjump" highlightClick="1"/>
          </p:cNvPr>
          <p:cNvSpPr/>
          <p:nvPr/>
        </p:nvSpPr>
        <p:spPr>
          <a:xfrm>
            <a:off x="9515475" y="2652729"/>
            <a:ext cx="952500" cy="479168"/>
          </a:xfrm>
          <a:prstGeom prst="actionButton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Управляющая кнопка: документ 17">
            <a:hlinkClick r:id="rId6" action="ppaction://hlinksldjump" highlightClick="1"/>
          </p:cNvPr>
          <p:cNvSpPr/>
          <p:nvPr/>
        </p:nvSpPr>
        <p:spPr>
          <a:xfrm>
            <a:off x="5729286" y="5801438"/>
            <a:ext cx="952500" cy="479168"/>
          </a:xfrm>
          <a:prstGeom prst="actionButton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Управляющая кнопка: документ 18">
            <a:hlinkClick r:id="rId7" action="ppaction://hlinksldjump" highlightClick="1"/>
          </p:cNvPr>
          <p:cNvSpPr/>
          <p:nvPr/>
        </p:nvSpPr>
        <p:spPr>
          <a:xfrm>
            <a:off x="10787525" y="5844467"/>
            <a:ext cx="952500" cy="479168"/>
          </a:xfrm>
          <a:prstGeom prst="actionButton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2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16789" y="580995"/>
            <a:ext cx="99204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Памятник Святой Великомученицы Екатерины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904875" y="1227326"/>
            <a:ext cx="64008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Памятник святой великомученице Екатерине появился в середине Александровского бульвара в 2009 году.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Первыми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 сенью Святой Екатерины прошли молодожены во время церемонии открытия памятника. Ритуал немедленно стал одной из самых красивых свадебных традиций города: пройдя под фигурой святой, влюбленные просят благословить и укрепить их союз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447675"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Святая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Екатерина является покровительницей города Краснодар и Краснодарского края. Святая известна и почитаема, прежде всего, своей внутренней духовной красотой, непреклонной верой, смирением и благочестием. Но не только этим святая великомученица Екатерина дорога нашему городу. Именно в честь святой великомученицы была названа Екатерина Вторая Великая, которая и даровала на вечное пользование землю казакам.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550" y="2185705"/>
            <a:ext cx="4418479" cy="2486590"/>
          </a:xfrm>
          <a:prstGeom prst="rect">
            <a:avLst/>
          </a:prstGeom>
        </p:spPr>
      </p:pic>
      <p:sp>
        <p:nvSpPr>
          <p:cNvPr id="5" name="Управляющая кнопка: &quot;На главную&quot;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9C4575E-D55F-7022-4F25-13F170BEC6DE}"/>
              </a:ext>
            </a:extLst>
          </p:cNvPr>
          <p:cNvSpPr/>
          <p:nvPr/>
        </p:nvSpPr>
        <p:spPr>
          <a:xfrm>
            <a:off x="11136574" y="5864609"/>
            <a:ext cx="730455" cy="758949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568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00237" y="628620"/>
            <a:ext cx="97059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Запорожцы пишут письмо Турецкому султану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19175" y="3007309"/>
            <a:ext cx="6096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2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2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городе Краснодаре барельеф по проекту скульптора Валерия Пчелина, был открыт 28 сентября 2008 года. В отличие от </a:t>
            </a:r>
            <a:r>
              <a:rPr lang="ru-RU" sz="22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картины, </a:t>
            </a:r>
            <a:r>
              <a:rPr lang="ru-RU" sz="22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2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краснодарском в памятнике </a:t>
            </a:r>
            <a:r>
              <a:rPr lang="ru-RU" sz="22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хватает нескольких персонажей. Роль этих казаков может исполнить любой желающий. Скульптура специально создана со свободными местами, чтобы любой мог почувствовать себя частью картины, посидеть на лавке или бочке с казаками и сфотографироваться.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19175" y="1587132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indent="447675" algn="just"/>
            <a:r>
              <a:rPr lang="ru-RU" sz="22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1888 году Илья Репин приехал тогда еще в Екатеринодар для зарисовки типов кубанских казаков к задуманной им картине.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819" y="3602266"/>
            <a:ext cx="4078305" cy="272052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659" y="1274951"/>
            <a:ext cx="3734627" cy="2100728"/>
          </a:xfrm>
          <a:prstGeom prst="rect">
            <a:avLst/>
          </a:prstGeom>
        </p:spPr>
      </p:pic>
      <p:sp>
        <p:nvSpPr>
          <p:cNvPr id="7" name="Управляющая кнопка: &quot;На главную&quot;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9C4575E-D55F-7022-4F25-13F170BEC6DE}"/>
              </a:ext>
            </a:extLst>
          </p:cNvPr>
          <p:cNvSpPr/>
          <p:nvPr/>
        </p:nvSpPr>
        <p:spPr>
          <a:xfrm>
            <a:off x="11154313" y="5943319"/>
            <a:ext cx="730455" cy="758949"/>
          </a:xfrm>
          <a:prstGeom prst="actionButtonHo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227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655632" y="628620"/>
            <a:ext cx="95474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Памятник советским воинам-освободителям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90625" y="1600260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47675" algn="just"/>
            <a:r>
              <a:rPr lang="ru-RU" sz="24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Памятник воинам-освободителям установлен в честь участников освобождения города от немецко-фашистских захватчиков. Он был открыт к 20-летию Победы в Великой Отечественной войне. На Площади Победы, расположенной рядом с парком имени Горького, возвышается пятиметровая фигура советского воина </a:t>
            </a:r>
            <a:r>
              <a:rPr lang="ru-RU" sz="24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символа победы над германским фашизмом. Именно на этом месте в феврале 1943 года завершилась операция по освобождению Краснодара.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100" y="1847850"/>
            <a:ext cx="4492625" cy="2990404"/>
          </a:xfrm>
          <a:prstGeom prst="rect">
            <a:avLst/>
          </a:prstGeom>
        </p:spPr>
      </p:pic>
      <p:sp>
        <p:nvSpPr>
          <p:cNvPr id="6" name="Управляющая кнопка: фильм 5">
            <a:hlinkClick r:id="" action="ppaction://noaction" highlightClick="1"/>
          </p:cNvPr>
          <p:cNvSpPr/>
          <p:nvPr/>
        </p:nvSpPr>
        <p:spPr>
          <a:xfrm>
            <a:off x="10572750" y="5153025"/>
            <a:ext cx="1323975" cy="1085850"/>
          </a:xfrm>
          <a:prstGeom prst="actionButtonMovi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3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85924" y="1423928"/>
            <a:ext cx="957262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Памятники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это не просто фигуры из бронзы или камня. Это живая история нашего города, застывшая в веках. Они рассказывают нам о героях, которые защищали нашу землю, о выдающихся людях и о добрых традициях кубанцев.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347787" y="3429000"/>
            <a:ext cx="991076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Наша малая родина становится интереснее и ближе, когда мы знаем, кто и почему стоит на наших площадях и в скверах.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685924" y="4943386"/>
            <a:ext cx="95726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Беречь памятники </a:t>
            </a:r>
            <a:r>
              <a:rPr lang="ru-RU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значит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беречь нашу историю и любовь к родному </a:t>
            </a:r>
            <a:r>
              <a:rPr lang="ru-RU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городу.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Давайте гордиться тем, что мы живем в таком красивом и богатом на события городе!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685924" y="586651"/>
            <a:ext cx="294151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Заключение:</a:t>
            </a:r>
            <a:endParaRPr lang="ru-RU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80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722273" y="443984"/>
            <a:ext cx="303320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048000" y="5242174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Интерактивное задание!</a:t>
            </a:r>
          </a:p>
          <a:p>
            <a:pPr algn="ctr"/>
            <a:r>
              <a:rPr 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Нажми на картинку!</a:t>
            </a:r>
          </a:p>
        </p:txBody>
      </p:sp>
      <p:pic>
        <p:nvPicPr>
          <p:cNvPr id="6" name="Рисунок 5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126" y="1477402"/>
            <a:ext cx="3562350" cy="35623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663197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579398" y="360432"/>
            <a:ext cx="303320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Clr>
                <a:srgbClr val="000000"/>
              </a:buClr>
            </a:pPr>
            <a:r>
              <a:rPr lang="ru-RU" sz="4800" b="1" u="sng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Задание 2.</a:t>
            </a:r>
            <a:endParaRPr lang="ru-RU" sz="4800" b="1" u="sng" kern="0" dirty="0">
              <a:solidFill>
                <a:srgbClr val="9BBB5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262186" y="1182708"/>
            <a:ext cx="76676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Ответь на </a:t>
            </a:r>
            <a:r>
              <a:rPr lang="ru-RU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вопросы! Поменяйтесь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соседом по парте </a:t>
            </a:r>
            <a:r>
              <a:rPr lang="ru-RU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ответами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проверьте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друг друга.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657350" y="2152561"/>
            <a:ext cx="983932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 Какую 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красивую традицию соблюдают молодожены у памятника Святой 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Екатерине?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А. Запускают голубей     Б. Сажают дерево    В. Проходят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 фигурой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святой</a:t>
            </a:r>
          </a:p>
          <a:p>
            <a:pPr algn="just"/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 Зачем 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памятнике казакам, пишущим письмо, оставлены свободные места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А. Для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новых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скульптур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Б. Чтобы любой желающий мог присесть и сфотографироваться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В. Так было изображено на картине художника</a:t>
            </a:r>
          </a:p>
          <a:p>
            <a:pPr algn="just"/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3) Какой 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высоты фигура воина в памятнике советским освободителям?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А. 5 метров      Б. 8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метров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В. 2 метра</a:t>
            </a:r>
          </a:p>
          <a:p>
            <a:pPr algn="just"/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4) Кто 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считается покровительницей города Краснодара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А. Святая Мария       Б. Святая Екатерина       В. Валерия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Пчелина</a:t>
            </a:r>
          </a:p>
        </p:txBody>
      </p:sp>
      <p:sp>
        <p:nvSpPr>
          <p:cNvPr id="5" name="Кольцо 4"/>
          <p:cNvSpPr/>
          <p:nvPr/>
        </p:nvSpPr>
        <p:spPr>
          <a:xfrm flipV="1">
            <a:off x="6967538" y="2835981"/>
            <a:ext cx="442912" cy="428625"/>
          </a:xfrm>
          <a:prstGeom prst="donut">
            <a:avLst>
              <a:gd name="adj" fmla="val 13496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Кольцо 5"/>
          <p:cNvSpPr/>
          <p:nvPr/>
        </p:nvSpPr>
        <p:spPr>
          <a:xfrm flipV="1">
            <a:off x="1657350" y="4180433"/>
            <a:ext cx="442912" cy="428625"/>
          </a:xfrm>
          <a:prstGeom prst="donut">
            <a:avLst>
              <a:gd name="adj" fmla="val 13496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Кольцо 6"/>
          <p:cNvSpPr/>
          <p:nvPr/>
        </p:nvSpPr>
        <p:spPr>
          <a:xfrm flipV="1">
            <a:off x="1657350" y="5191125"/>
            <a:ext cx="442912" cy="428625"/>
          </a:xfrm>
          <a:prstGeom prst="donut">
            <a:avLst>
              <a:gd name="adj" fmla="val 13496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Кольцо 7"/>
          <p:cNvSpPr/>
          <p:nvPr/>
        </p:nvSpPr>
        <p:spPr>
          <a:xfrm flipV="1">
            <a:off x="4136486" y="5847876"/>
            <a:ext cx="442912" cy="428625"/>
          </a:xfrm>
          <a:prstGeom prst="donut">
            <a:avLst>
              <a:gd name="adj" fmla="val 13496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05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82936" y="296597"/>
            <a:ext cx="303320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Clr>
                <a:srgbClr val="000000"/>
              </a:buClr>
            </a:pPr>
            <a:r>
              <a:rPr lang="ru-RU" sz="4800" b="1" u="sng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Задание </a:t>
            </a:r>
            <a:r>
              <a:rPr lang="ru-RU" sz="4800" b="1" u="sng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3.</a:t>
            </a:r>
            <a:endParaRPr lang="ru-RU" sz="4800" b="1" u="sng" kern="0" dirty="0">
              <a:solidFill>
                <a:srgbClr val="9BBB5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733549" y="4362451"/>
            <a:ext cx="1002982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Посмотри </a:t>
            </a:r>
            <a:r>
              <a:rPr lang="ru-RU" sz="20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выбранный памятник очень внимательно. </a:t>
            </a:r>
            <a:r>
              <a:rPr lang="ru-RU" sz="20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(Для обучающихся ЗПР карточки с картинками памятников, каждый </a:t>
            </a:r>
            <a:r>
              <a:rPr lang="ru-RU" sz="20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отдельно)</a:t>
            </a:r>
            <a:endParaRPr lang="ru-RU" sz="2000" dirty="0" smtClean="0">
              <a:solidFill>
                <a:srgbClr val="011C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0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Выбери одну маленькую деталь, которая тебе нравится больше всего: узор на мече, складки на одежде, </a:t>
            </a:r>
            <a:r>
              <a:rPr lang="ru-RU" sz="20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корона. </a:t>
            </a:r>
          </a:p>
          <a:p>
            <a:pPr algn="just"/>
            <a:r>
              <a:rPr lang="ru-RU" sz="20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0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Нарисуй на весь лист бумаги крупным планом только эту деталь. Постарайся передать все линии и тени. </a:t>
            </a:r>
            <a:endParaRPr lang="ru-RU" sz="2000" dirty="0" smtClean="0">
              <a:solidFill>
                <a:srgbClr val="011C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0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Остальные </a:t>
            </a:r>
            <a:r>
              <a:rPr lang="ru-RU" sz="20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обучающиеся </a:t>
            </a:r>
            <a:r>
              <a:rPr lang="ru-RU" sz="2000" dirty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должны будут угадать, какому памятнику принадлежит эта деталь</a:t>
            </a:r>
            <a:r>
              <a:rPr lang="ru-RU" sz="2000" dirty="0" smtClean="0">
                <a:solidFill>
                  <a:srgbClr val="011C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6"/>
          <a:stretch/>
        </p:blipFill>
        <p:spPr>
          <a:xfrm>
            <a:off x="718597" y="165317"/>
            <a:ext cx="3250855" cy="419713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952" y="1304091"/>
            <a:ext cx="4079173" cy="281802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40" t="12406" r="33400" b="18472"/>
          <a:stretch/>
        </p:blipFill>
        <p:spPr>
          <a:xfrm>
            <a:off x="8512520" y="165317"/>
            <a:ext cx="3250855" cy="419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3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627466" y="5324568"/>
            <a:ext cx="35063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</a:pPr>
            <a:r>
              <a:rPr lang="ru-RU" sz="2400" kern="0" dirty="0">
                <a:solidFill>
                  <a:prstClr val="black">
                    <a:lumMod val="90000"/>
                    <a:lumOff val="10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Я чувствую себя чудесно!</a:t>
            </a:r>
          </a:p>
          <a:p>
            <a:pPr lvl="0" algn="ctr">
              <a:buClr>
                <a:srgbClr val="000000"/>
              </a:buClr>
            </a:pPr>
            <a:r>
              <a:rPr lang="ru-RU" sz="2400" kern="0" dirty="0">
                <a:solidFill>
                  <a:prstClr val="black">
                    <a:lumMod val="90000"/>
                    <a:lumOff val="10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Я все понял!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924425" y="5324567"/>
            <a:ext cx="22095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 чувствую себя спокойно. Не все понял.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8700959" y="5324567"/>
            <a:ext cx="21624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 расстроен. Ничего не понял.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651475" y="674757"/>
            <a:ext cx="29418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Clr>
                <a:srgbClr val="000000"/>
              </a:buClr>
            </a:pPr>
            <a:r>
              <a:rPr lang="ru-RU" sz="4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Рефлексия</a:t>
            </a:r>
            <a:endParaRPr lang="ru-RU" sz="4400" b="1" kern="0" dirty="0">
              <a:solidFill>
                <a:srgbClr val="9BBB5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2" r="61605" b="54584"/>
          <a:stretch/>
        </p:blipFill>
        <p:spPr>
          <a:xfrm>
            <a:off x="627466" y="1850636"/>
            <a:ext cx="3337615" cy="3156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89" t="5694" r="7626" b="37500"/>
          <a:stretch/>
        </p:blipFill>
        <p:spPr>
          <a:xfrm>
            <a:off x="4299467" y="1743266"/>
            <a:ext cx="3459457" cy="33714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492" r="46996" b="1061"/>
          <a:stretch/>
        </p:blipFill>
        <p:spPr>
          <a:xfrm>
            <a:off x="8043536" y="1959967"/>
            <a:ext cx="3753937" cy="27233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Управляющая кнопка: звук 11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10215563" y="631536"/>
            <a:ext cx="1014412" cy="1000125"/>
          </a:xfrm>
          <a:prstGeom prst="actionButtonSou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57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9585" y="600214"/>
            <a:ext cx="283282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Clr>
                <a:srgbClr val="000000"/>
              </a:buClr>
            </a:pPr>
            <a:r>
              <a:rPr lang="ru-RU" sz="4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Источники</a:t>
            </a:r>
            <a:endParaRPr lang="ru-RU" sz="4400" kern="0" dirty="0">
              <a:solidFill>
                <a:srgbClr val="9BBB5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951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Оранжевый и красный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1060</TotalTime>
  <Words>886</Words>
  <Application>Microsoft Office PowerPoint</Application>
  <PresentationFormat>Широкоэкранный</PresentationFormat>
  <Paragraphs>70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Calibri</vt:lpstr>
      <vt:lpstr>Century</vt:lpstr>
      <vt:lpstr>Century Gothic</vt:lpstr>
      <vt:lpstr>Times New Roman</vt:lpstr>
      <vt:lpstr>Wingdings</vt:lpstr>
      <vt:lpstr>Wingdings 3</vt:lpstr>
      <vt:lpstr>Легкий дым</vt:lpstr>
      <vt:lpstr>«Памятники моей малой Родины»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33</cp:revision>
  <dcterms:created xsi:type="dcterms:W3CDTF">2026-06-22T20:10:15Z</dcterms:created>
  <dcterms:modified xsi:type="dcterms:W3CDTF">2026-06-23T17:52:09Z</dcterms:modified>
</cp:coreProperties>
</file>