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7"/>
  </p:notesMasterIdLst>
  <p:sldIdLst>
    <p:sldId id="256" r:id="rId2"/>
    <p:sldId id="257" r:id="rId3"/>
    <p:sldId id="312" r:id="rId4"/>
    <p:sldId id="258" r:id="rId5"/>
    <p:sldId id="262" r:id="rId6"/>
    <p:sldId id="269" r:id="rId7"/>
    <p:sldId id="263" r:id="rId8"/>
    <p:sldId id="264" r:id="rId9"/>
    <p:sldId id="265" r:id="rId10"/>
    <p:sldId id="270" r:id="rId11"/>
    <p:sldId id="275" r:id="rId12"/>
    <p:sldId id="313" r:id="rId13"/>
    <p:sldId id="314" r:id="rId14"/>
    <p:sldId id="316" r:id="rId15"/>
    <p:sldId id="315" r:id="rId16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listoga" panose="020B0604020202020204" charset="0"/>
      <p:regular r:id="rId26"/>
    </p:embeddedFont>
    <p:embeddedFont>
      <p:font typeface="Century" panose="02040604050505020304" pitchFamily="18" charset="0"/>
      <p:regular r:id="rId27"/>
    </p:embeddedFont>
    <p:embeddedFont>
      <p:font typeface="Chivo" panose="020B0604020202020204" charset="0"/>
      <p:regular r:id="rId28"/>
      <p:bold r:id="rId29"/>
      <p:italic r:id="rId30"/>
      <p:boldItalic r:id="rId31"/>
    </p:embeddedFont>
    <p:embeddedFont>
      <p:font typeface="Roboto Condensed Light" panose="02000000000000000000" pitchFamily="2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0100E2-1A30-4AE2-ACD8-A9F40D08D3B7}">
  <a:tblStyle styleId="{820100E2-1A30-4AE2-ACD8-A9F40D08D3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9863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99f2f57a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99f2f57a7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649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7650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8418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9240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2879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87256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9840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4162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50720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44359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49556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893750" y="539400"/>
            <a:ext cx="7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893750" y="1139551"/>
            <a:ext cx="7356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893700" y="539400"/>
            <a:ext cx="7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2"/>
          </p:nvPr>
        </p:nvSpPr>
        <p:spPr>
          <a:xfrm>
            <a:off x="1622638" y="1736848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1622638" y="2247173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/>
          </p:nvPr>
        </p:nvSpPr>
        <p:spPr>
          <a:xfrm>
            <a:off x="5194263" y="1736848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4"/>
          </p:nvPr>
        </p:nvSpPr>
        <p:spPr>
          <a:xfrm>
            <a:off x="5194263" y="2247173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5"/>
          </p:nvPr>
        </p:nvSpPr>
        <p:spPr>
          <a:xfrm>
            <a:off x="1622638" y="3526613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6"/>
          </p:nvPr>
        </p:nvSpPr>
        <p:spPr>
          <a:xfrm>
            <a:off x="1622638" y="4036938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7"/>
          </p:nvPr>
        </p:nvSpPr>
        <p:spPr>
          <a:xfrm>
            <a:off x="5194263" y="3526613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8"/>
          </p:nvPr>
        </p:nvSpPr>
        <p:spPr>
          <a:xfrm>
            <a:off x="5194263" y="4036938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9" hasCustomPrompt="1"/>
          </p:nvPr>
        </p:nvSpPr>
        <p:spPr>
          <a:xfrm>
            <a:off x="2263738" y="1242873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13" hasCustomPrompt="1"/>
          </p:nvPr>
        </p:nvSpPr>
        <p:spPr>
          <a:xfrm>
            <a:off x="2263738" y="3030951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14" hasCustomPrompt="1"/>
          </p:nvPr>
        </p:nvSpPr>
        <p:spPr>
          <a:xfrm>
            <a:off x="5835363" y="1242873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15" hasCustomPrompt="1"/>
          </p:nvPr>
        </p:nvSpPr>
        <p:spPr>
          <a:xfrm>
            <a:off x="5835363" y="3030951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 flipH="1">
            <a:off x="4128094" y="2101800"/>
            <a:ext cx="3872400" cy="235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 flipH="1">
            <a:off x="4128094" y="941700"/>
            <a:ext cx="3678300" cy="11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2997325" y="725275"/>
            <a:ext cx="3149400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 idx="2"/>
          </p:nvPr>
        </p:nvSpPr>
        <p:spPr>
          <a:xfrm>
            <a:off x="1188588" y="2377673"/>
            <a:ext cx="1695000" cy="6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 idx="3"/>
          </p:nvPr>
        </p:nvSpPr>
        <p:spPr>
          <a:xfrm>
            <a:off x="6260412" y="2377673"/>
            <a:ext cx="1695000" cy="6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6043100" y="3114175"/>
            <a:ext cx="2129700" cy="8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971300" y="3114175"/>
            <a:ext cx="2129700" cy="8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title" idx="2"/>
          </p:nvPr>
        </p:nvSpPr>
        <p:spPr>
          <a:xfrm>
            <a:off x="5139375" y="125895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subTitle" idx="1"/>
          </p:nvPr>
        </p:nvSpPr>
        <p:spPr>
          <a:xfrm>
            <a:off x="5139375" y="1670381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title" idx="3"/>
          </p:nvPr>
        </p:nvSpPr>
        <p:spPr>
          <a:xfrm>
            <a:off x="5139369" y="2347788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subTitle" idx="4"/>
          </p:nvPr>
        </p:nvSpPr>
        <p:spPr>
          <a:xfrm>
            <a:off x="5139372" y="2759213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title" idx="5"/>
          </p:nvPr>
        </p:nvSpPr>
        <p:spPr>
          <a:xfrm>
            <a:off x="5139371" y="343661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subTitle" idx="6"/>
          </p:nvPr>
        </p:nvSpPr>
        <p:spPr>
          <a:xfrm>
            <a:off x="5139375" y="384804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7"/>
          <p:cNvSpPr txBox="1">
            <a:spLocks noGrp="1"/>
          </p:cNvSpPr>
          <p:nvPr>
            <p:ph type="title" idx="2"/>
          </p:nvPr>
        </p:nvSpPr>
        <p:spPr>
          <a:xfrm>
            <a:off x="893750" y="1767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7" name="Google Shape;357;p27"/>
          <p:cNvSpPr txBox="1">
            <a:spLocks noGrp="1"/>
          </p:cNvSpPr>
          <p:nvPr>
            <p:ph type="subTitle" idx="1"/>
          </p:nvPr>
        </p:nvSpPr>
        <p:spPr>
          <a:xfrm>
            <a:off x="893750" y="2179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7"/>
          <p:cNvSpPr txBox="1">
            <a:spLocks noGrp="1"/>
          </p:cNvSpPr>
          <p:nvPr>
            <p:ph type="title" idx="3"/>
          </p:nvPr>
        </p:nvSpPr>
        <p:spPr>
          <a:xfrm>
            <a:off x="6203979" y="1767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9" name="Google Shape;359;p27"/>
          <p:cNvSpPr txBox="1">
            <a:spLocks noGrp="1"/>
          </p:cNvSpPr>
          <p:nvPr>
            <p:ph type="subTitle" idx="4"/>
          </p:nvPr>
        </p:nvSpPr>
        <p:spPr>
          <a:xfrm>
            <a:off x="6203975" y="2179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27"/>
          <p:cNvSpPr txBox="1">
            <a:spLocks noGrp="1"/>
          </p:cNvSpPr>
          <p:nvPr>
            <p:ph type="title" idx="5"/>
          </p:nvPr>
        </p:nvSpPr>
        <p:spPr>
          <a:xfrm>
            <a:off x="893750" y="3429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p27"/>
          <p:cNvSpPr txBox="1">
            <a:spLocks noGrp="1"/>
          </p:cNvSpPr>
          <p:nvPr>
            <p:ph type="subTitle" idx="6"/>
          </p:nvPr>
        </p:nvSpPr>
        <p:spPr>
          <a:xfrm>
            <a:off x="893750" y="3841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27"/>
          <p:cNvSpPr txBox="1">
            <a:spLocks noGrp="1"/>
          </p:cNvSpPr>
          <p:nvPr>
            <p:ph type="title" idx="7"/>
          </p:nvPr>
        </p:nvSpPr>
        <p:spPr>
          <a:xfrm>
            <a:off x="6203979" y="3429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3" name="Google Shape;363;p27"/>
          <p:cNvSpPr txBox="1">
            <a:spLocks noGrp="1"/>
          </p:cNvSpPr>
          <p:nvPr>
            <p:ph type="subTitle" idx="8"/>
          </p:nvPr>
        </p:nvSpPr>
        <p:spPr>
          <a:xfrm>
            <a:off x="6204027" y="3841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title"/>
          </p:nvPr>
        </p:nvSpPr>
        <p:spPr>
          <a:xfrm>
            <a:off x="1198550" y="1077451"/>
            <a:ext cx="3852000" cy="181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1"/>
          </p:nvPr>
        </p:nvSpPr>
        <p:spPr>
          <a:xfrm>
            <a:off x="1198550" y="2892627"/>
            <a:ext cx="38520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5218500" y="1628000"/>
            <a:ext cx="3044100" cy="8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1"/>
          </p:nvPr>
        </p:nvSpPr>
        <p:spPr>
          <a:xfrm>
            <a:off x="5218500" y="2447250"/>
            <a:ext cx="3044100" cy="12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ED2F3-3CFA-46DD-986A-897F274C3C0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60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8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slide" Target="slide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a.ru/video/preview/41981224330620608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apps.org/watch?v=p4iwb38hj2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1D9A3A-5A34-4835-AFC3-ABE18122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6255" y="-592937"/>
            <a:ext cx="9545782" cy="637564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51599A3-0EF2-4BD9-BAF1-FEB694A4FDCA}"/>
              </a:ext>
            </a:extLst>
          </p:cNvPr>
          <p:cNvSpPr/>
          <p:nvPr/>
        </p:nvSpPr>
        <p:spPr>
          <a:xfrm>
            <a:off x="1662545" y="949036"/>
            <a:ext cx="5825837" cy="1622714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8" name="Google Shape;488;p37"/>
          <p:cNvSpPr txBox="1">
            <a:spLocks noGrp="1"/>
          </p:cNvSpPr>
          <p:nvPr>
            <p:ph type="ctrTitle"/>
          </p:nvPr>
        </p:nvSpPr>
        <p:spPr>
          <a:xfrm>
            <a:off x="944545" y="1597688"/>
            <a:ext cx="7254909" cy="9740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 dirty="0">
                <a:solidFill>
                  <a:schemeClr val="dk2"/>
                </a:solidFill>
                <a:latin typeface="Century" panose="02040604050505020304" pitchFamily="18" charset="0"/>
              </a:rPr>
              <a:t>Памятники моей малой родины</a:t>
            </a:r>
            <a:endParaRPr sz="47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0D4C68F-7214-4283-B577-E6D05918C355}"/>
              </a:ext>
            </a:extLst>
          </p:cNvPr>
          <p:cNvSpPr/>
          <p:nvPr/>
        </p:nvSpPr>
        <p:spPr>
          <a:xfrm>
            <a:off x="232062" y="3650673"/>
            <a:ext cx="8679873" cy="1407967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88;p37"/>
          <p:cNvSpPr txBox="1">
            <a:spLocks/>
          </p:cNvSpPr>
          <p:nvPr/>
        </p:nvSpPr>
        <p:spPr>
          <a:xfrm>
            <a:off x="144943" y="307229"/>
            <a:ext cx="5494006" cy="606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600" dirty="0">
                <a:latin typeface="Century" panose="02040604050505020304" pitchFamily="18" charset="0"/>
              </a:rPr>
              <a:t>Воспитательные задачи</a:t>
            </a:r>
            <a:endParaRPr lang="ru-RU" sz="32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88;p37"/>
          <p:cNvSpPr txBox="1">
            <a:spLocks/>
          </p:cNvSpPr>
          <p:nvPr/>
        </p:nvSpPr>
        <p:spPr>
          <a:xfrm>
            <a:off x="641320" y="208084"/>
            <a:ext cx="786135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>
                <a:latin typeface="Century" panose="02040604050505020304" pitchFamily="18" charset="0"/>
              </a:rPr>
              <a:t>Личностные результаты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grpSp>
        <p:nvGrpSpPr>
          <p:cNvPr id="3" name="Google Shape;116;p12"/>
          <p:cNvGrpSpPr/>
          <p:nvPr/>
        </p:nvGrpSpPr>
        <p:grpSpPr>
          <a:xfrm>
            <a:off x="380727" y="972339"/>
            <a:ext cx="3966819" cy="1682371"/>
            <a:chOff x="0" y="-38100"/>
            <a:chExt cx="1339143" cy="289395"/>
          </a:xfrm>
        </p:grpSpPr>
        <p:sp>
          <p:nvSpPr>
            <p:cNvPr id="4" name="Google Shape;117;p12"/>
            <p:cNvSpPr/>
            <p:nvPr/>
          </p:nvSpPr>
          <p:spPr>
            <a:xfrm>
              <a:off x="0" y="0"/>
              <a:ext cx="1339143" cy="251295"/>
            </a:xfrm>
            <a:custGeom>
              <a:avLst/>
              <a:gdLst/>
              <a:ahLst/>
              <a:cxnLst/>
              <a:rect l="l" t="t" r="r" b="b"/>
              <a:pathLst>
                <a:path w="1339143" h="251295" extrusionOk="0">
                  <a:moveTo>
                    <a:pt x="77956" y="0"/>
                  </a:moveTo>
                  <a:lnTo>
                    <a:pt x="1261187" y="0"/>
                  </a:lnTo>
                  <a:cubicBezTo>
                    <a:pt x="1304241" y="0"/>
                    <a:pt x="1339143" y="34902"/>
                    <a:pt x="1339143" y="77956"/>
                  </a:cubicBezTo>
                  <a:lnTo>
                    <a:pt x="1339143" y="173339"/>
                  </a:lnTo>
                  <a:cubicBezTo>
                    <a:pt x="1339143" y="194014"/>
                    <a:pt x="1330930" y="213843"/>
                    <a:pt x="1316310" y="228462"/>
                  </a:cubicBezTo>
                  <a:cubicBezTo>
                    <a:pt x="1301690" y="243082"/>
                    <a:pt x="1281862" y="251295"/>
                    <a:pt x="1261187" y="251295"/>
                  </a:cubicBezTo>
                  <a:lnTo>
                    <a:pt x="77956" y="251295"/>
                  </a:lnTo>
                  <a:cubicBezTo>
                    <a:pt x="34902" y="251295"/>
                    <a:pt x="0" y="216393"/>
                    <a:pt x="0" y="173339"/>
                  </a:cubicBezTo>
                  <a:lnTo>
                    <a:pt x="0" y="77956"/>
                  </a:lnTo>
                  <a:cubicBezTo>
                    <a:pt x="0" y="34902"/>
                    <a:pt x="34902" y="0"/>
                    <a:pt x="7795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;p12"/>
            <p:cNvSpPr txBox="1"/>
            <p:nvPr/>
          </p:nvSpPr>
          <p:spPr>
            <a:xfrm>
              <a:off x="0" y="-38100"/>
              <a:ext cx="1339143" cy="289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120;p12"/>
          <p:cNvSpPr/>
          <p:nvPr/>
        </p:nvSpPr>
        <p:spPr>
          <a:xfrm>
            <a:off x="4702645" y="2916127"/>
            <a:ext cx="4133560" cy="1460880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62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116;p12"/>
          <p:cNvGrpSpPr/>
          <p:nvPr/>
        </p:nvGrpSpPr>
        <p:grpSpPr>
          <a:xfrm>
            <a:off x="380726" y="2911581"/>
            <a:ext cx="3966819" cy="1460880"/>
            <a:chOff x="0" y="-38100"/>
            <a:chExt cx="1339143" cy="289395"/>
          </a:xfrm>
        </p:grpSpPr>
        <p:sp>
          <p:nvSpPr>
            <p:cNvPr id="26" name="Google Shape;117;p12"/>
            <p:cNvSpPr/>
            <p:nvPr/>
          </p:nvSpPr>
          <p:spPr>
            <a:xfrm>
              <a:off x="0" y="0"/>
              <a:ext cx="1339143" cy="251295"/>
            </a:xfrm>
            <a:custGeom>
              <a:avLst/>
              <a:gdLst/>
              <a:ahLst/>
              <a:cxnLst/>
              <a:rect l="l" t="t" r="r" b="b"/>
              <a:pathLst>
                <a:path w="1339143" h="251295" extrusionOk="0">
                  <a:moveTo>
                    <a:pt x="77956" y="0"/>
                  </a:moveTo>
                  <a:lnTo>
                    <a:pt x="1261187" y="0"/>
                  </a:lnTo>
                  <a:cubicBezTo>
                    <a:pt x="1304241" y="0"/>
                    <a:pt x="1339143" y="34902"/>
                    <a:pt x="1339143" y="77956"/>
                  </a:cubicBezTo>
                  <a:lnTo>
                    <a:pt x="1339143" y="173339"/>
                  </a:lnTo>
                  <a:cubicBezTo>
                    <a:pt x="1339143" y="194014"/>
                    <a:pt x="1330930" y="213843"/>
                    <a:pt x="1316310" y="228462"/>
                  </a:cubicBezTo>
                  <a:cubicBezTo>
                    <a:pt x="1301690" y="243082"/>
                    <a:pt x="1281862" y="251295"/>
                    <a:pt x="1261187" y="251295"/>
                  </a:cubicBezTo>
                  <a:lnTo>
                    <a:pt x="77956" y="251295"/>
                  </a:lnTo>
                  <a:cubicBezTo>
                    <a:pt x="34902" y="251295"/>
                    <a:pt x="0" y="216393"/>
                    <a:pt x="0" y="173339"/>
                  </a:cubicBezTo>
                  <a:lnTo>
                    <a:pt x="0" y="77956"/>
                  </a:lnTo>
                  <a:cubicBezTo>
                    <a:pt x="0" y="34902"/>
                    <a:pt x="34902" y="0"/>
                    <a:pt x="7795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8;p12"/>
            <p:cNvSpPr txBox="1"/>
            <p:nvPr/>
          </p:nvSpPr>
          <p:spPr>
            <a:xfrm>
              <a:off x="0" y="-38100"/>
              <a:ext cx="1339143" cy="289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120;p12"/>
          <p:cNvSpPr/>
          <p:nvPr/>
        </p:nvSpPr>
        <p:spPr>
          <a:xfrm>
            <a:off x="4702645" y="1193830"/>
            <a:ext cx="4133560" cy="1460880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62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81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88;p37"/>
          <p:cNvSpPr txBox="1">
            <a:spLocks/>
          </p:cNvSpPr>
          <p:nvPr/>
        </p:nvSpPr>
        <p:spPr>
          <a:xfrm>
            <a:off x="394519" y="664053"/>
            <a:ext cx="8354960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ru-RU" sz="3200" dirty="0">
                <a:latin typeface="Century" panose="02040604050505020304" pitchFamily="18" charset="0"/>
              </a:rPr>
              <a:t>Инструкция по просмотру виртуальной экскурсии и выполнению заданий</a:t>
            </a:r>
            <a:endParaRPr lang="ru-RU" sz="2800" dirty="0">
              <a:latin typeface="Century" panose="020406040505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11430" y="4251872"/>
            <a:ext cx="2198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itchFamily="18" charset="0"/>
              </a:rPr>
              <a:t>— переход на текст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0090" y="4242199"/>
            <a:ext cx="2198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itchFamily="18" charset="0"/>
              </a:rPr>
              <a:t>— переход домой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D3D64C-E3D4-449A-BA0B-E2ADC22F8E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34593" t="36393" r="36952" b="40670"/>
          <a:stretch/>
        </p:blipFill>
        <p:spPr>
          <a:xfrm>
            <a:off x="5600381" y="4056873"/>
            <a:ext cx="789039" cy="67842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7310E4-6266-40E5-BDB1-D5CD261D83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6753" t="36186" r="68426" b="41311"/>
          <a:stretch/>
        </p:blipFill>
        <p:spPr>
          <a:xfrm>
            <a:off x="1386645" y="4069716"/>
            <a:ext cx="688277" cy="665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88;p37"/>
          <p:cNvSpPr txBox="1">
            <a:spLocks/>
          </p:cNvSpPr>
          <p:nvPr/>
        </p:nvSpPr>
        <p:spPr>
          <a:xfrm>
            <a:off x="4337420" y="51999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>
                <a:latin typeface="Century" panose="02040604050505020304" pitchFamily="18" charset="0"/>
              </a:rPr>
              <a:t>Введение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88;p37"/>
          <p:cNvSpPr txBox="1">
            <a:spLocks/>
          </p:cNvSpPr>
          <p:nvPr/>
        </p:nvSpPr>
        <p:spPr>
          <a:xfrm>
            <a:off x="2020350" y="263636"/>
            <a:ext cx="510329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>
                <a:latin typeface="Century" panose="02040604050505020304" pitchFamily="18" charset="0"/>
              </a:rPr>
              <a:t>Маршрут экскурсии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26" name="Google Shape;219;p16"/>
          <p:cNvSpPr/>
          <p:nvPr/>
        </p:nvSpPr>
        <p:spPr>
          <a:xfrm>
            <a:off x="198000" y="1351328"/>
            <a:ext cx="2315234" cy="882616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" name="Прямая со стрелкой 6"/>
          <p:cNvCxnSpPr>
            <a:cxnSpLocks/>
          </p:cNvCxnSpPr>
          <p:nvPr/>
        </p:nvCxnSpPr>
        <p:spPr>
          <a:xfrm>
            <a:off x="2333328" y="3645073"/>
            <a:ext cx="520485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Google Shape;219;p16">
            <a:extLst>
              <a:ext uri="{FF2B5EF4-FFF2-40B4-BE49-F238E27FC236}">
                <a16:creationId xmlns:a16="http://schemas.microsoft.com/office/drawing/2014/main" id="{91332934-F27D-4CF4-B1EE-76ED401FF500}"/>
              </a:ext>
            </a:extLst>
          </p:cNvPr>
          <p:cNvSpPr/>
          <p:nvPr/>
        </p:nvSpPr>
        <p:spPr>
          <a:xfrm>
            <a:off x="2934532" y="1351329"/>
            <a:ext cx="3133926" cy="882616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9;p16">
            <a:extLst>
              <a:ext uri="{FF2B5EF4-FFF2-40B4-BE49-F238E27FC236}">
                <a16:creationId xmlns:a16="http://schemas.microsoft.com/office/drawing/2014/main" id="{18750F5A-C01A-41E3-ABD0-2E75838DFC87}"/>
              </a:ext>
            </a:extLst>
          </p:cNvPr>
          <p:cNvSpPr/>
          <p:nvPr/>
        </p:nvSpPr>
        <p:spPr>
          <a:xfrm>
            <a:off x="6438793" y="1351329"/>
            <a:ext cx="2476364" cy="882616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3273773-E6DB-4167-83B1-C7FCDFC3BBBE}"/>
              </a:ext>
            </a:extLst>
          </p:cNvPr>
          <p:cNvCxnSpPr>
            <a:cxnSpLocks/>
          </p:cNvCxnSpPr>
          <p:nvPr/>
        </p:nvCxnSpPr>
        <p:spPr>
          <a:xfrm>
            <a:off x="5670173" y="3727260"/>
            <a:ext cx="520485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Рисунок 32">
            <a:hlinkClick r:id="rId3" action="ppaction://hlinksldjump"/>
            <a:extLst>
              <a:ext uri="{FF2B5EF4-FFF2-40B4-BE49-F238E27FC236}">
                <a16:creationId xmlns:a16="http://schemas.microsoft.com/office/drawing/2014/main" id="{31B552DB-20BA-48AC-960E-4E1F4F9B9A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9277" t="36927" r="71068" b="43285"/>
          <a:stretch/>
        </p:blipFill>
        <p:spPr>
          <a:xfrm>
            <a:off x="2198662" y="2294859"/>
            <a:ext cx="456466" cy="490202"/>
          </a:xfrm>
          <a:prstGeom prst="rect">
            <a:avLst/>
          </a:prstGeom>
          <a:ln w="28575">
            <a:noFill/>
            <a:prstDash val="lgDashDot"/>
            <a:extLst>
              <a:ext uri="{C807C97D-BFC1-408E-A445-0C87EB9F89A2}">
                <ask:lineSketchStyleProps xmlns:ask="http://schemas.microsoft.com/office/drawing/2018/sketchyshapes" sd="3519531759">
                  <a:custGeom>
                    <a:avLst/>
                    <a:gdLst>
                      <a:gd name="connsiteX0" fmla="*/ 0 w 688277"/>
                      <a:gd name="connsiteY0" fmla="*/ 0 h 665584"/>
                      <a:gd name="connsiteX1" fmla="*/ 337256 w 688277"/>
                      <a:gd name="connsiteY1" fmla="*/ 0 h 665584"/>
                      <a:gd name="connsiteX2" fmla="*/ 688277 w 688277"/>
                      <a:gd name="connsiteY2" fmla="*/ 0 h 665584"/>
                      <a:gd name="connsiteX3" fmla="*/ 688277 w 688277"/>
                      <a:gd name="connsiteY3" fmla="*/ 326136 h 665584"/>
                      <a:gd name="connsiteX4" fmla="*/ 688277 w 688277"/>
                      <a:gd name="connsiteY4" fmla="*/ 665584 h 665584"/>
                      <a:gd name="connsiteX5" fmla="*/ 330373 w 688277"/>
                      <a:gd name="connsiteY5" fmla="*/ 665584 h 665584"/>
                      <a:gd name="connsiteX6" fmla="*/ 0 w 688277"/>
                      <a:gd name="connsiteY6" fmla="*/ 665584 h 665584"/>
                      <a:gd name="connsiteX7" fmla="*/ 0 w 688277"/>
                      <a:gd name="connsiteY7" fmla="*/ 339448 h 665584"/>
                      <a:gd name="connsiteX8" fmla="*/ 0 w 688277"/>
                      <a:gd name="connsiteY8" fmla="*/ 0 h 665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88277" h="665584" fill="none" extrusionOk="0">
                        <a:moveTo>
                          <a:pt x="0" y="0"/>
                        </a:moveTo>
                        <a:cubicBezTo>
                          <a:pt x="127927" y="-3814"/>
                          <a:pt x="169492" y="19998"/>
                          <a:pt x="337256" y="0"/>
                        </a:cubicBezTo>
                        <a:cubicBezTo>
                          <a:pt x="505020" y="-19998"/>
                          <a:pt x="544419" y="12010"/>
                          <a:pt x="688277" y="0"/>
                        </a:cubicBezTo>
                        <a:cubicBezTo>
                          <a:pt x="699281" y="82851"/>
                          <a:pt x="673102" y="230146"/>
                          <a:pt x="688277" y="326136"/>
                        </a:cubicBezTo>
                        <a:cubicBezTo>
                          <a:pt x="703452" y="422126"/>
                          <a:pt x="678286" y="565698"/>
                          <a:pt x="688277" y="665584"/>
                        </a:cubicBezTo>
                        <a:cubicBezTo>
                          <a:pt x="614273" y="702866"/>
                          <a:pt x="487347" y="624917"/>
                          <a:pt x="330373" y="665584"/>
                        </a:cubicBezTo>
                        <a:cubicBezTo>
                          <a:pt x="173399" y="706251"/>
                          <a:pt x="109529" y="663002"/>
                          <a:pt x="0" y="665584"/>
                        </a:cubicBezTo>
                        <a:cubicBezTo>
                          <a:pt x="-1518" y="514258"/>
                          <a:pt x="7171" y="471079"/>
                          <a:pt x="0" y="339448"/>
                        </a:cubicBezTo>
                        <a:cubicBezTo>
                          <a:pt x="-7171" y="207817"/>
                          <a:pt x="271" y="77273"/>
                          <a:pt x="0" y="0"/>
                        </a:cubicBezTo>
                        <a:close/>
                      </a:path>
                      <a:path w="688277" h="665584" stroke="0" extrusionOk="0">
                        <a:moveTo>
                          <a:pt x="0" y="0"/>
                        </a:moveTo>
                        <a:cubicBezTo>
                          <a:pt x="124512" y="-11760"/>
                          <a:pt x="250087" y="1898"/>
                          <a:pt x="357904" y="0"/>
                        </a:cubicBezTo>
                        <a:cubicBezTo>
                          <a:pt x="465721" y="-1898"/>
                          <a:pt x="609268" y="37192"/>
                          <a:pt x="688277" y="0"/>
                        </a:cubicBezTo>
                        <a:cubicBezTo>
                          <a:pt x="712101" y="121178"/>
                          <a:pt x="649361" y="173839"/>
                          <a:pt x="688277" y="326136"/>
                        </a:cubicBezTo>
                        <a:cubicBezTo>
                          <a:pt x="727193" y="478433"/>
                          <a:pt x="668813" y="568701"/>
                          <a:pt x="688277" y="665584"/>
                        </a:cubicBezTo>
                        <a:cubicBezTo>
                          <a:pt x="535846" y="668969"/>
                          <a:pt x="454227" y="634539"/>
                          <a:pt x="330373" y="665584"/>
                        </a:cubicBezTo>
                        <a:cubicBezTo>
                          <a:pt x="206519" y="696629"/>
                          <a:pt x="100551" y="638073"/>
                          <a:pt x="0" y="665584"/>
                        </a:cubicBezTo>
                        <a:cubicBezTo>
                          <a:pt x="-4268" y="572911"/>
                          <a:pt x="20511" y="468312"/>
                          <a:pt x="0" y="352760"/>
                        </a:cubicBezTo>
                        <a:cubicBezTo>
                          <a:pt x="-20511" y="237208"/>
                          <a:pt x="22138" y="742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37" name="Рисунок 36">
            <a:hlinkClick r:id="rId6" action="ppaction://hlinksldjump"/>
            <a:extLst>
              <a:ext uri="{FF2B5EF4-FFF2-40B4-BE49-F238E27FC236}">
                <a16:creationId xmlns:a16="http://schemas.microsoft.com/office/drawing/2014/main" id="{978AF845-C7B6-42B0-A80B-0937510FD9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9277" t="36927" r="71068" b="43285"/>
          <a:stretch/>
        </p:blipFill>
        <p:spPr>
          <a:xfrm>
            <a:off x="5734192" y="2289664"/>
            <a:ext cx="456466" cy="490202"/>
          </a:xfrm>
          <a:prstGeom prst="rect">
            <a:avLst/>
          </a:prstGeom>
          <a:ln w="28575">
            <a:noFill/>
            <a:prstDash val="lgDashDot"/>
            <a:extLst>
              <a:ext uri="{C807C97D-BFC1-408E-A445-0C87EB9F89A2}">
                <ask:lineSketchStyleProps xmlns:ask="http://schemas.microsoft.com/office/drawing/2018/sketchyshapes" sd="3519531759">
                  <a:custGeom>
                    <a:avLst/>
                    <a:gdLst>
                      <a:gd name="connsiteX0" fmla="*/ 0 w 688277"/>
                      <a:gd name="connsiteY0" fmla="*/ 0 h 665584"/>
                      <a:gd name="connsiteX1" fmla="*/ 337256 w 688277"/>
                      <a:gd name="connsiteY1" fmla="*/ 0 h 665584"/>
                      <a:gd name="connsiteX2" fmla="*/ 688277 w 688277"/>
                      <a:gd name="connsiteY2" fmla="*/ 0 h 665584"/>
                      <a:gd name="connsiteX3" fmla="*/ 688277 w 688277"/>
                      <a:gd name="connsiteY3" fmla="*/ 326136 h 665584"/>
                      <a:gd name="connsiteX4" fmla="*/ 688277 w 688277"/>
                      <a:gd name="connsiteY4" fmla="*/ 665584 h 665584"/>
                      <a:gd name="connsiteX5" fmla="*/ 330373 w 688277"/>
                      <a:gd name="connsiteY5" fmla="*/ 665584 h 665584"/>
                      <a:gd name="connsiteX6" fmla="*/ 0 w 688277"/>
                      <a:gd name="connsiteY6" fmla="*/ 665584 h 665584"/>
                      <a:gd name="connsiteX7" fmla="*/ 0 w 688277"/>
                      <a:gd name="connsiteY7" fmla="*/ 339448 h 665584"/>
                      <a:gd name="connsiteX8" fmla="*/ 0 w 688277"/>
                      <a:gd name="connsiteY8" fmla="*/ 0 h 665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88277" h="665584" fill="none" extrusionOk="0">
                        <a:moveTo>
                          <a:pt x="0" y="0"/>
                        </a:moveTo>
                        <a:cubicBezTo>
                          <a:pt x="127927" y="-3814"/>
                          <a:pt x="169492" y="19998"/>
                          <a:pt x="337256" y="0"/>
                        </a:cubicBezTo>
                        <a:cubicBezTo>
                          <a:pt x="505020" y="-19998"/>
                          <a:pt x="544419" y="12010"/>
                          <a:pt x="688277" y="0"/>
                        </a:cubicBezTo>
                        <a:cubicBezTo>
                          <a:pt x="699281" y="82851"/>
                          <a:pt x="673102" y="230146"/>
                          <a:pt x="688277" y="326136"/>
                        </a:cubicBezTo>
                        <a:cubicBezTo>
                          <a:pt x="703452" y="422126"/>
                          <a:pt x="678286" y="565698"/>
                          <a:pt x="688277" y="665584"/>
                        </a:cubicBezTo>
                        <a:cubicBezTo>
                          <a:pt x="614273" y="702866"/>
                          <a:pt x="487347" y="624917"/>
                          <a:pt x="330373" y="665584"/>
                        </a:cubicBezTo>
                        <a:cubicBezTo>
                          <a:pt x="173399" y="706251"/>
                          <a:pt x="109529" y="663002"/>
                          <a:pt x="0" y="665584"/>
                        </a:cubicBezTo>
                        <a:cubicBezTo>
                          <a:pt x="-1518" y="514258"/>
                          <a:pt x="7171" y="471079"/>
                          <a:pt x="0" y="339448"/>
                        </a:cubicBezTo>
                        <a:cubicBezTo>
                          <a:pt x="-7171" y="207817"/>
                          <a:pt x="271" y="77273"/>
                          <a:pt x="0" y="0"/>
                        </a:cubicBezTo>
                        <a:close/>
                      </a:path>
                      <a:path w="688277" h="665584" stroke="0" extrusionOk="0">
                        <a:moveTo>
                          <a:pt x="0" y="0"/>
                        </a:moveTo>
                        <a:cubicBezTo>
                          <a:pt x="124512" y="-11760"/>
                          <a:pt x="250087" y="1898"/>
                          <a:pt x="357904" y="0"/>
                        </a:cubicBezTo>
                        <a:cubicBezTo>
                          <a:pt x="465721" y="-1898"/>
                          <a:pt x="609268" y="37192"/>
                          <a:pt x="688277" y="0"/>
                        </a:cubicBezTo>
                        <a:cubicBezTo>
                          <a:pt x="712101" y="121178"/>
                          <a:pt x="649361" y="173839"/>
                          <a:pt x="688277" y="326136"/>
                        </a:cubicBezTo>
                        <a:cubicBezTo>
                          <a:pt x="727193" y="478433"/>
                          <a:pt x="668813" y="568701"/>
                          <a:pt x="688277" y="665584"/>
                        </a:cubicBezTo>
                        <a:cubicBezTo>
                          <a:pt x="535846" y="668969"/>
                          <a:pt x="454227" y="634539"/>
                          <a:pt x="330373" y="665584"/>
                        </a:cubicBezTo>
                        <a:cubicBezTo>
                          <a:pt x="206519" y="696629"/>
                          <a:pt x="100551" y="638073"/>
                          <a:pt x="0" y="665584"/>
                        </a:cubicBezTo>
                        <a:cubicBezTo>
                          <a:pt x="-4268" y="572911"/>
                          <a:pt x="20511" y="468312"/>
                          <a:pt x="0" y="352760"/>
                        </a:cubicBezTo>
                        <a:cubicBezTo>
                          <a:pt x="-20511" y="237208"/>
                          <a:pt x="22138" y="742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38" name="Рисунок 37">
            <a:hlinkClick r:id="rId7" action="ppaction://hlinksldjump"/>
            <a:extLst>
              <a:ext uri="{FF2B5EF4-FFF2-40B4-BE49-F238E27FC236}">
                <a16:creationId xmlns:a16="http://schemas.microsoft.com/office/drawing/2014/main" id="{8460BE36-C777-46E6-8316-333299A3CD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9277" t="36927" r="71068" b="43285"/>
          <a:stretch/>
        </p:blipFill>
        <p:spPr>
          <a:xfrm>
            <a:off x="8540778" y="2289664"/>
            <a:ext cx="456466" cy="490202"/>
          </a:xfrm>
          <a:prstGeom prst="rect">
            <a:avLst/>
          </a:prstGeom>
          <a:ln w="28575">
            <a:noFill/>
            <a:prstDash val="lgDashDot"/>
            <a:extLst>
              <a:ext uri="{C807C97D-BFC1-408E-A445-0C87EB9F89A2}">
                <ask:lineSketchStyleProps xmlns:ask="http://schemas.microsoft.com/office/drawing/2018/sketchyshapes" sd="3519531759">
                  <a:custGeom>
                    <a:avLst/>
                    <a:gdLst>
                      <a:gd name="connsiteX0" fmla="*/ 0 w 688277"/>
                      <a:gd name="connsiteY0" fmla="*/ 0 h 665584"/>
                      <a:gd name="connsiteX1" fmla="*/ 337256 w 688277"/>
                      <a:gd name="connsiteY1" fmla="*/ 0 h 665584"/>
                      <a:gd name="connsiteX2" fmla="*/ 688277 w 688277"/>
                      <a:gd name="connsiteY2" fmla="*/ 0 h 665584"/>
                      <a:gd name="connsiteX3" fmla="*/ 688277 w 688277"/>
                      <a:gd name="connsiteY3" fmla="*/ 326136 h 665584"/>
                      <a:gd name="connsiteX4" fmla="*/ 688277 w 688277"/>
                      <a:gd name="connsiteY4" fmla="*/ 665584 h 665584"/>
                      <a:gd name="connsiteX5" fmla="*/ 330373 w 688277"/>
                      <a:gd name="connsiteY5" fmla="*/ 665584 h 665584"/>
                      <a:gd name="connsiteX6" fmla="*/ 0 w 688277"/>
                      <a:gd name="connsiteY6" fmla="*/ 665584 h 665584"/>
                      <a:gd name="connsiteX7" fmla="*/ 0 w 688277"/>
                      <a:gd name="connsiteY7" fmla="*/ 339448 h 665584"/>
                      <a:gd name="connsiteX8" fmla="*/ 0 w 688277"/>
                      <a:gd name="connsiteY8" fmla="*/ 0 h 665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88277" h="665584" fill="none" extrusionOk="0">
                        <a:moveTo>
                          <a:pt x="0" y="0"/>
                        </a:moveTo>
                        <a:cubicBezTo>
                          <a:pt x="127927" y="-3814"/>
                          <a:pt x="169492" y="19998"/>
                          <a:pt x="337256" y="0"/>
                        </a:cubicBezTo>
                        <a:cubicBezTo>
                          <a:pt x="505020" y="-19998"/>
                          <a:pt x="544419" y="12010"/>
                          <a:pt x="688277" y="0"/>
                        </a:cubicBezTo>
                        <a:cubicBezTo>
                          <a:pt x="699281" y="82851"/>
                          <a:pt x="673102" y="230146"/>
                          <a:pt x="688277" y="326136"/>
                        </a:cubicBezTo>
                        <a:cubicBezTo>
                          <a:pt x="703452" y="422126"/>
                          <a:pt x="678286" y="565698"/>
                          <a:pt x="688277" y="665584"/>
                        </a:cubicBezTo>
                        <a:cubicBezTo>
                          <a:pt x="614273" y="702866"/>
                          <a:pt x="487347" y="624917"/>
                          <a:pt x="330373" y="665584"/>
                        </a:cubicBezTo>
                        <a:cubicBezTo>
                          <a:pt x="173399" y="706251"/>
                          <a:pt x="109529" y="663002"/>
                          <a:pt x="0" y="665584"/>
                        </a:cubicBezTo>
                        <a:cubicBezTo>
                          <a:pt x="-1518" y="514258"/>
                          <a:pt x="7171" y="471079"/>
                          <a:pt x="0" y="339448"/>
                        </a:cubicBezTo>
                        <a:cubicBezTo>
                          <a:pt x="-7171" y="207817"/>
                          <a:pt x="271" y="77273"/>
                          <a:pt x="0" y="0"/>
                        </a:cubicBezTo>
                        <a:close/>
                      </a:path>
                      <a:path w="688277" h="665584" stroke="0" extrusionOk="0">
                        <a:moveTo>
                          <a:pt x="0" y="0"/>
                        </a:moveTo>
                        <a:cubicBezTo>
                          <a:pt x="124512" y="-11760"/>
                          <a:pt x="250087" y="1898"/>
                          <a:pt x="357904" y="0"/>
                        </a:cubicBezTo>
                        <a:cubicBezTo>
                          <a:pt x="465721" y="-1898"/>
                          <a:pt x="609268" y="37192"/>
                          <a:pt x="688277" y="0"/>
                        </a:cubicBezTo>
                        <a:cubicBezTo>
                          <a:pt x="712101" y="121178"/>
                          <a:pt x="649361" y="173839"/>
                          <a:pt x="688277" y="326136"/>
                        </a:cubicBezTo>
                        <a:cubicBezTo>
                          <a:pt x="727193" y="478433"/>
                          <a:pt x="668813" y="568701"/>
                          <a:pt x="688277" y="665584"/>
                        </a:cubicBezTo>
                        <a:cubicBezTo>
                          <a:pt x="535846" y="668969"/>
                          <a:pt x="454227" y="634539"/>
                          <a:pt x="330373" y="665584"/>
                        </a:cubicBezTo>
                        <a:cubicBezTo>
                          <a:pt x="206519" y="696629"/>
                          <a:pt x="100551" y="638073"/>
                          <a:pt x="0" y="665584"/>
                        </a:cubicBezTo>
                        <a:cubicBezTo>
                          <a:pt x="-4268" y="572911"/>
                          <a:pt x="20511" y="468312"/>
                          <a:pt x="0" y="352760"/>
                        </a:cubicBezTo>
                        <a:cubicBezTo>
                          <a:pt x="-20511" y="237208"/>
                          <a:pt x="22138" y="742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488;p37"/>
          <p:cNvSpPr txBox="1">
            <a:spLocks/>
          </p:cNvSpPr>
          <p:nvPr/>
        </p:nvSpPr>
        <p:spPr>
          <a:xfrm>
            <a:off x="3532241" y="453141"/>
            <a:ext cx="5558062" cy="10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dirty="0">
                <a:latin typeface="Century" panose="02040604050505020304" pitchFamily="18" charset="0"/>
              </a:rPr>
              <a:t>Памятник императрице Екатерине </a:t>
            </a:r>
            <a:r>
              <a:rPr lang="en-US" sz="3200" dirty="0">
                <a:latin typeface="Century" panose="02040604050505020304" pitchFamily="18" charset="0"/>
              </a:rPr>
              <a:t>II</a:t>
            </a:r>
            <a:endParaRPr lang="ru-RU" sz="28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pic>
        <p:nvPicPr>
          <p:cNvPr id="11" name="Рисунок 10">
            <a:hlinkClick r:id="rId5" action="ppaction://hlinksldjump"/>
            <a:extLst>
              <a:ext uri="{FF2B5EF4-FFF2-40B4-BE49-F238E27FC236}">
                <a16:creationId xmlns:a16="http://schemas.microsoft.com/office/drawing/2014/main" id="{1D0EACB8-9B12-4482-91CE-5F1786D7E1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34593" t="36393" r="36952" b="40670"/>
          <a:stretch/>
        </p:blipFill>
        <p:spPr>
          <a:xfrm>
            <a:off x="-97962" y="-246"/>
            <a:ext cx="789039" cy="678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BE6071-7C6A-4973-9C92-F7428A3D966F}"/>
              </a:ext>
            </a:extLst>
          </p:cNvPr>
          <p:cNvSpPr txBox="1"/>
          <p:nvPr/>
        </p:nvSpPr>
        <p:spPr>
          <a:xfrm>
            <a:off x="4870655" y="4340521"/>
            <a:ext cx="1806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1F497D"/>
                </a:solidFill>
                <a:latin typeface="Century" panose="02040604050505020304" pitchFamily="18" charset="0"/>
              </a:rPr>
              <a:t>Послушай!</a:t>
            </a:r>
          </a:p>
        </p:txBody>
      </p:sp>
      <p:pic>
        <p:nvPicPr>
          <p:cNvPr id="6" name="Памятник Екатерине II в Краснодаре - Геленджик Новости GLN-news (128k)">
            <a:hlinkClick r:id="" action="ppaction://media"/>
            <a:extLst>
              <a:ext uri="{FF2B5EF4-FFF2-40B4-BE49-F238E27FC236}">
                <a16:creationId xmlns:a16="http://schemas.microsoft.com/office/drawing/2014/main" id="{012F4AAD-02BE-45AD-9A81-0ED976CA44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803923" y="4266553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71028F2-A654-4367-B7B2-2FEBDD1E3898}"/>
              </a:ext>
            </a:extLst>
          </p:cNvPr>
          <p:cNvGrpSpPr/>
          <p:nvPr/>
        </p:nvGrpSpPr>
        <p:grpSpPr>
          <a:xfrm>
            <a:off x="5572248" y="1445342"/>
            <a:ext cx="2309052" cy="475481"/>
            <a:chOff x="5653699" y="2762638"/>
            <a:chExt cx="2998800" cy="537487"/>
          </a:xfrm>
        </p:grpSpPr>
        <p:sp>
          <p:nvSpPr>
            <p:cNvPr id="37" name="Google Shape;120;p12"/>
            <p:cNvSpPr/>
            <p:nvPr/>
          </p:nvSpPr>
          <p:spPr>
            <a:xfrm>
              <a:off x="5653699" y="2762638"/>
              <a:ext cx="2998800" cy="537487"/>
            </a:xfrm>
            <a:custGeom>
              <a:avLst/>
              <a:gdLst/>
              <a:ahLst/>
              <a:cxnLst/>
              <a:rect l="l" t="t" r="r" b="b"/>
              <a:pathLst>
                <a:path w="1339143" h="251295" extrusionOk="0">
                  <a:moveTo>
                    <a:pt x="77956" y="0"/>
                  </a:moveTo>
                  <a:lnTo>
                    <a:pt x="1261187" y="0"/>
                  </a:lnTo>
                  <a:cubicBezTo>
                    <a:pt x="1304241" y="0"/>
                    <a:pt x="1339143" y="34902"/>
                    <a:pt x="1339143" y="77956"/>
                  </a:cubicBezTo>
                  <a:lnTo>
                    <a:pt x="1339143" y="173339"/>
                  </a:lnTo>
                  <a:cubicBezTo>
                    <a:pt x="1339143" y="194014"/>
                    <a:pt x="1330930" y="213843"/>
                    <a:pt x="1316310" y="228462"/>
                  </a:cubicBezTo>
                  <a:cubicBezTo>
                    <a:pt x="1301690" y="243082"/>
                    <a:pt x="1281862" y="251295"/>
                    <a:pt x="1261187" y="251295"/>
                  </a:cubicBezTo>
                  <a:lnTo>
                    <a:pt x="77956" y="251295"/>
                  </a:lnTo>
                  <a:cubicBezTo>
                    <a:pt x="34902" y="251295"/>
                    <a:pt x="0" y="216393"/>
                    <a:pt x="0" y="173339"/>
                  </a:cubicBezTo>
                  <a:lnTo>
                    <a:pt x="0" y="77956"/>
                  </a:lnTo>
                  <a:cubicBezTo>
                    <a:pt x="0" y="34902"/>
                    <a:pt x="34902" y="0"/>
                    <a:pt x="77956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62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TextBox 35">
              <a:hlinkClick r:id="rId3"/>
            </p:cNvPr>
            <p:cNvSpPr txBox="1"/>
            <p:nvPr/>
          </p:nvSpPr>
          <p:spPr>
            <a:xfrm>
              <a:off x="5716185" y="2877492"/>
              <a:ext cx="28738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ookman Old Style" pitchFamily="18" charset="0"/>
                </a:rPr>
                <a:t>Ссылка на видео</a:t>
              </a:r>
            </a:p>
          </p:txBody>
        </p:sp>
      </p:grpSp>
      <p:sp>
        <p:nvSpPr>
          <p:cNvPr id="10" name="Google Shape;488;p37"/>
          <p:cNvSpPr txBox="1">
            <a:spLocks/>
          </p:cNvSpPr>
          <p:nvPr/>
        </p:nvSpPr>
        <p:spPr>
          <a:xfrm>
            <a:off x="396890" y="226158"/>
            <a:ext cx="8457071" cy="103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dirty="0">
                <a:latin typeface="Century" panose="02040604050505020304" pitchFamily="18" charset="0"/>
              </a:rPr>
              <a:t>Памятник «Запорожцы пишут письмо </a:t>
            </a:r>
          </a:p>
          <a:p>
            <a:pPr algn="ctr"/>
            <a:r>
              <a:rPr lang="ru-RU" sz="3200" dirty="0">
                <a:latin typeface="Century" panose="02040604050505020304" pitchFamily="18" charset="0"/>
              </a:rPr>
              <a:t>турецкому султану»</a:t>
            </a:r>
          </a:p>
        </p:txBody>
      </p:sp>
      <p:pic>
        <p:nvPicPr>
          <p:cNvPr id="14" name="Рисунок 13">
            <a:hlinkClick r:id="rId4" action="ppaction://hlinksldjump"/>
            <a:extLst>
              <a:ext uri="{FF2B5EF4-FFF2-40B4-BE49-F238E27FC236}">
                <a16:creationId xmlns:a16="http://schemas.microsoft.com/office/drawing/2014/main" id="{50CF34E3-03A0-4AAF-AAA5-D2CF224360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34593" t="36393" r="36952" b="40670"/>
          <a:stretch/>
        </p:blipFill>
        <p:spPr>
          <a:xfrm>
            <a:off x="0" y="106077"/>
            <a:ext cx="789039" cy="678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88;p37"/>
          <p:cNvSpPr txBox="1">
            <a:spLocks/>
          </p:cNvSpPr>
          <p:nvPr/>
        </p:nvSpPr>
        <p:spPr>
          <a:xfrm>
            <a:off x="1492617" y="221226"/>
            <a:ext cx="6560002" cy="108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dirty="0">
                <a:latin typeface="Century" panose="02040604050505020304" pitchFamily="18" charset="0"/>
              </a:rPr>
              <a:t>Памятник «Казакам — основателям земли Кубанской»</a:t>
            </a:r>
          </a:p>
        </p:txBody>
      </p:sp>
      <p:pic>
        <p:nvPicPr>
          <p:cNvPr id="11" name="Рисунок 10">
            <a:hlinkClick r:id="rId3" action="ppaction://hlinksldjump"/>
            <a:extLst>
              <a:ext uri="{FF2B5EF4-FFF2-40B4-BE49-F238E27FC236}">
                <a16:creationId xmlns:a16="http://schemas.microsoft.com/office/drawing/2014/main" id="{7AB45A78-9400-481D-9440-E8EF822D84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13" y1="19336" x2="47396" y2="18652"/>
                        <a14:foregroundMark x1="48646" y1="16016" x2="48438" y2="16211"/>
                        <a14:foregroundMark x1="21979" y1="18457" x2="21354" y2="18652"/>
                        <a14:foregroundMark x1="18646" y1="18750" x2="18021" y2="18750"/>
                        <a14:foregroundMark x1="12812" y1="15039" x2="12500" y2="15625"/>
                        <a14:foregroundMark x1="47813" y1="41406" x2="47813" y2="41406"/>
                        <a14:foregroundMark x1="49583" y1="48047" x2="49583" y2="48047"/>
                        <a14:foregroundMark x1="54167" y1="48340" x2="54167" y2="48340"/>
                        <a14:foregroundMark x1="45417" y1="47852" x2="45417" y2="47852"/>
                        <a14:foregroundMark x1="49583" y1="54492" x2="49583" y2="54492"/>
                        <a14:foregroundMark x1="74167" y1="43457" x2="74167" y2="43457"/>
                        <a14:foregroundMark x1="72292" y1="45410" x2="72292" y2="45410"/>
                        <a14:foregroundMark x1="77396" y1="45410" x2="77396" y2="45410"/>
                        <a14:foregroundMark x1="88958" y1="46289" x2="88958" y2="46289"/>
                        <a14:foregroundMark x1="85313" y1="47168" x2="85313" y2="47168"/>
                        <a14:foregroundMark x1="24792" y1="42285" x2="24792" y2="42285"/>
                        <a14:foregroundMark x1="21979" y1="70801" x2="21979" y2="70801"/>
                        <a14:foregroundMark x1="22188" y1="65820" x2="22188" y2="65820"/>
                        <a14:foregroundMark x1="46146" y1="68066" x2="46146" y2="68066"/>
                        <a14:foregroundMark x1="70521" y1="67969" x2="70521" y2="67969"/>
                        <a14:foregroundMark x1="77083" y1="72363" x2="77083" y2="72363"/>
                        <a14:foregroundMark x1="83542" y1="69922" x2="83542" y2="69922"/>
                        <a14:foregroundMark x1="83542" y1="73438" x2="83542" y2="73438"/>
                        <a14:foregroundMark x1="48750" y1="72949" x2="48750" y2="72949"/>
                        <a14:foregroundMark x1="52188" y1="72070" x2="52188" y2="72070"/>
                        <a14:foregroundMark x1="55208" y1="71289" x2="55208" y2="71289"/>
                        <a14:foregroundMark x1="43542" y1="71973" x2="43542" y2="71973"/>
                        <a14:backgroundMark x1="34271" y1="19238" x2="32708" y2="65918"/>
                        <a14:backgroundMark x1="14375" y1="71875" x2="14375" y2="75000"/>
                        <a14:backgroundMark x1="78438" y1="20215" x2="78438" y2="21973"/>
                        <a14:backgroundMark x1="77188" y1="69629" x2="81146" y2="70801"/>
                        <a14:backgroundMark x1="48750" y1="70410" x2="52292" y2="70117"/>
                        <a14:backgroundMark x1="20833" y1="22461" x2="20833" y2="22461"/>
                        <a14:backgroundMark x1="48750" y1="22266" x2="48750" y2="22266"/>
                        <a14:backgroundMark x1="78438" y1="28125" x2="78438" y2="28125"/>
                        <a14:backgroundMark x1="25833" y1="75586" x2="25833" y2="75586"/>
                        <a14:backgroundMark x1="48958" y1="28125" x2="48958" y2="28125"/>
                        <a14:backgroundMark x1="73750" y1="17090" x2="73750" y2="17090"/>
                        <a14:backgroundMark x1="50625" y1="18066" x2="50938" y2="18164"/>
                        <a14:backgroundMark x1="23854" y1="17188" x2="24792" y2="19238"/>
                        <a14:backgroundMark x1="19896" y1="71094" x2="17396" y2="72559"/>
                        <a14:backgroundMark x1="79688" y1="14941" x2="80729" y2="15234"/>
                        <a14:backgroundMark x1="84896" y1="17383" x2="84896" y2="18457"/>
                        <a14:backgroundMark x1="26146" y1="42188" x2="25729" y2="43164"/>
                        <a14:backgroundMark x1="51250" y1="43457" x2="46771" y2="43164"/>
                        <a14:backgroundMark x1="74167" y1="42285" x2="74167" y2="42285"/>
                        <a14:backgroundMark x1="85833" y1="42578" x2="85833" y2="42578"/>
                        <a14:backgroundMark x1="21354" y1="74414" x2="21354" y2="74414"/>
                        <a14:backgroundMark x1="14375" y1="41602" x2="14375" y2="41602"/>
                      </a14:backgroundRemoval>
                    </a14:imgEffect>
                  </a14:imgLayer>
                </a14:imgProps>
              </a:ext>
            </a:extLst>
          </a:blip>
          <a:srcRect l="34593" t="36393" r="36952" b="40670"/>
          <a:stretch/>
        </p:blipFill>
        <p:spPr>
          <a:xfrm>
            <a:off x="117987" y="157697"/>
            <a:ext cx="789039" cy="678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88;p37"/>
          <p:cNvSpPr txBox="1">
            <a:spLocks/>
          </p:cNvSpPr>
          <p:nvPr/>
        </p:nvSpPr>
        <p:spPr>
          <a:xfrm>
            <a:off x="856171" y="645007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>
                <a:latin typeface="Century" panose="02040604050505020304" pitchFamily="18" charset="0"/>
              </a:rPr>
              <a:t>Заключение 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8;p37"/>
          <p:cNvSpPr txBox="1">
            <a:spLocks/>
          </p:cNvSpPr>
          <p:nvPr/>
        </p:nvSpPr>
        <p:spPr>
          <a:xfrm>
            <a:off x="2948303" y="368031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b="1" dirty="0">
                <a:latin typeface="Century" panose="02040604050505020304" pitchFamily="18" charset="0"/>
              </a:rPr>
              <a:t>Задание 1.</a:t>
            </a:r>
            <a:endParaRPr lang="ru-RU" sz="28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15" name="Google Shape;486;p37"/>
          <p:cNvSpPr txBox="1">
            <a:spLocks/>
          </p:cNvSpPr>
          <p:nvPr/>
        </p:nvSpPr>
        <p:spPr>
          <a:xfrm>
            <a:off x="2406572" y="3558060"/>
            <a:ext cx="433085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2400" b="1" dirty="0">
                <a:solidFill>
                  <a:srgbClr val="1F497D"/>
                </a:solidFill>
                <a:latin typeface="Bookman Old Style" pitchFamily="18" charset="0"/>
              </a:rPr>
              <a:t>Интерактивное задание!</a:t>
            </a:r>
          </a:p>
          <a:p>
            <a:pPr marL="0" indent="0" algn="ctr">
              <a:buNone/>
            </a:pPr>
            <a:r>
              <a:rPr lang="ru-RU" sz="2400" b="1" dirty="0">
                <a:solidFill>
                  <a:srgbClr val="1F497D"/>
                </a:solidFill>
                <a:latin typeface="Bookman Old Style" pitchFamily="18" charset="0"/>
              </a:rPr>
              <a:t>Нажми на картинку!</a:t>
            </a:r>
          </a:p>
        </p:txBody>
      </p:sp>
      <p:pic>
        <p:nvPicPr>
          <p:cNvPr id="3" name="Рисунок 2">
            <a:hlinkClick r:id="rId3"/>
            <a:extLst>
              <a:ext uri="{FF2B5EF4-FFF2-40B4-BE49-F238E27FC236}">
                <a16:creationId xmlns:a16="http://schemas.microsoft.com/office/drawing/2014/main" id="{8AD72E09-5C03-4AF7-922E-209744C28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422" y="1395774"/>
            <a:ext cx="2002036" cy="2002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04" y="386176"/>
            <a:ext cx="3247392" cy="31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b="1" dirty="0">
                <a:latin typeface="Century" panose="02040604050505020304" pitchFamily="18" charset="0"/>
              </a:rPr>
              <a:t>Задание 2.</a:t>
            </a:r>
            <a:endParaRPr lang="ru-RU" sz="28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35551-EA1C-4228-9DBB-E94B8EC992CF}"/>
              </a:ext>
            </a:extLst>
          </p:cNvPr>
          <p:cNvSpPr txBox="1"/>
          <p:nvPr/>
        </p:nvSpPr>
        <p:spPr>
          <a:xfrm>
            <a:off x="435076" y="1341255"/>
            <a:ext cx="8177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1. Какая императрица подарила казакам кубанские земли, в честь чего ей поставили большой памятник?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5E2639-70D4-47B4-8714-8E345C8D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3" y="1820575"/>
            <a:ext cx="21387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А) Екатерина II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Б) Елизавета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В) Царевна-Лебедь</a:t>
            </a:r>
          </a:p>
        </p:txBody>
      </p:sp>
      <p:pic>
        <p:nvPicPr>
          <p:cNvPr id="8" name="Рисунок 7" descr="Флажок со сплошной заливкой">
            <a:extLst>
              <a:ext uri="{FF2B5EF4-FFF2-40B4-BE49-F238E27FC236}">
                <a16:creationId xmlns:a16="http://schemas.microsoft.com/office/drawing/2014/main" id="{B8AD4832-0FE2-4FB5-8675-2E4395D4C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5791" y="1735250"/>
            <a:ext cx="359492" cy="359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A149EA-C152-4427-AD7A-67C456774452}"/>
              </a:ext>
            </a:extLst>
          </p:cNvPr>
          <p:cNvSpPr txBox="1"/>
          <p:nvPr/>
        </p:nvSpPr>
        <p:spPr>
          <a:xfrm>
            <a:off x="435073" y="2654031"/>
            <a:ext cx="8443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2. Что необычного можно сделать у бронзового памятника «Запорожцы пишут письмо...»?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2007570-AA28-4EBD-95B3-276DD268A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3" y="2949731"/>
            <a:ext cx="58464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А) Покататься на коне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Б) Присесть на свободное место на лавочке к казакам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В) Позвонить в колокол</a:t>
            </a:r>
          </a:p>
        </p:txBody>
      </p:sp>
      <p:pic>
        <p:nvPicPr>
          <p:cNvPr id="12" name="Рисунок 11" descr="Флажок со сплошной заливкой">
            <a:extLst>
              <a:ext uri="{FF2B5EF4-FFF2-40B4-BE49-F238E27FC236}">
                <a16:creationId xmlns:a16="http://schemas.microsoft.com/office/drawing/2014/main" id="{19152509-C25F-4E93-B95E-B04223A08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0906" y="3137990"/>
            <a:ext cx="359492" cy="3594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8B605F-4648-4036-8DAA-2E95A58E9DA6}"/>
              </a:ext>
            </a:extLst>
          </p:cNvPr>
          <p:cNvSpPr txBox="1"/>
          <p:nvPr/>
        </p:nvSpPr>
        <p:spPr>
          <a:xfrm>
            <a:off x="435073" y="3757811"/>
            <a:ext cx="8443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3. Кто гордо сидит на коне на памятнике в самом центре Краснодара?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242A279-D59F-400F-91CF-EB8C2698C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3" y="4112437"/>
            <a:ext cx="42066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dirty="0">
                <a:solidFill>
                  <a:schemeClr val="tx1"/>
                </a:solidFill>
                <a:latin typeface="Bookman Old Style" panose="02050604050505020204" pitchFamily="18" charset="0"/>
              </a:rPr>
              <a:t>А) Богатырь из сказки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Б) Казак-основатель кубанской земли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В) Рыцарь в доспехах</a:t>
            </a:r>
          </a:p>
        </p:txBody>
      </p:sp>
      <p:pic>
        <p:nvPicPr>
          <p:cNvPr id="15" name="Рисунок 14" descr="Флажок со сплошной заливкой">
            <a:extLst>
              <a:ext uri="{FF2B5EF4-FFF2-40B4-BE49-F238E27FC236}">
                <a16:creationId xmlns:a16="http://schemas.microsoft.com/office/drawing/2014/main" id="{E0EDC5FA-CDB3-4254-98B2-FC6F81901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2430" y="4289226"/>
            <a:ext cx="359492" cy="359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B64B9A-FFAC-4A84-93E6-9828C39EE3BA}"/>
              </a:ext>
            </a:extLst>
          </p:cNvPr>
          <p:cNvSpPr txBox="1"/>
          <p:nvPr/>
        </p:nvSpPr>
        <p:spPr>
          <a:xfrm>
            <a:off x="530943" y="656212"/>
            <a:ext cx="817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Century" panose="02040604050505020304" pitchFamily="18" charset="0"/>
              </a:rPr>
              <a:t>Ответь на вопросы, а затем поменяйся с соседом по парте </a:t>
            </a:r>
          </a:p>
          <a:p>
            <a:pPr algn="ctr"/>
            <a:r>
              <a:rPr lang="ru-RU" sz="1600" b="1" dirty="0">
                <a:solidFill>
                  <a:srgbClr val="1F497D"/>
                </a:solidFill>
                <a:latin typeface="Century" panose="02040604050505020304" pitchFamily="18" charset="0"/>
              </a:rPr>
              <a:t>и проверьте друг друга!</a:t>
            </a:r>
          </a:p>
        </p:txBody>
      </p:sp>
    </p:spTree>
    <p:extLst>
      <p:ext uri="{BB962C8B-B14F-4D97-AF65-F5344CB8AC3E}">
        <p14:creationId xmlns:p14="http://schemas.microsoft.com/office/powerpoint/2010/main" val="13162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04" y="41965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3200" b="1" dirty="0">
                <a:latin typeface="Century" panose="02040604050505020304" pitchFamily="18" charset="0"/>
              </a:rPr>
              <a:t>Задание 3.</a:t>
            </a:r>
            <a:endParaRPr lang="ru-RU" sz="28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94E73-B2AE-4B46-9D9C-5CC561C9E43F}"/>
              </a:ext>
            </a:extLst>
          </p:cNvPr>
          <p:cNvSpPr txBox="1"/>
          <p:nvPr/>
        </p:nvSpPr>
        <p:spPr>
          <a:xfrm>
            <a:off x="836971" y="1976284"/>
            <a:ext cx="7470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1F497D"/>
                </a:solidFill>
                <a:latin typeface="Bookman Old Style" panose="02050604050505020204" pitchFamily="18" charset="0"/>
              </a:rPr>
              <a:t>ТВОРЧЕСКОЕ ЗАДАНИЕ!</a:t>
            </a:r>
          </a:p>
          <a:p>
            <a:pPr algn="ctr"/>
            <a:endParaRPr lang="ru-RU" sz="1800" b="1" dirty="0">
              <a:solidFill>
                <a:srgbClr val="1F497D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ru-RU" sz="1800" b="1" dirty="0">
                <a:solidFill>
                  <a:srgbClr val="1F497D"/>
                </a:solidFill>
                <a:latin typeface="Bookman Old Style" panose="02050604050505020204" pitchFamily="18" charset="0"/>
              </a:rPr>
              <a:t>Возьми карандаши и листок бумаги. Нарисуй свой памятник, не забудь вложить в него предысторию и связь со своей малой Родиной!</a:t>
            </a:r>
          </a:p>
        </p:txBody>
      </p:sp>
    </p:spTree>
    <p:extLst>
      <p:ext uri="{BB962C8B-B14F-4D97-AF65-F5344CB8AC3E}">
        <p14:creationId xmlns:p14="http://schemas.microsoft.com/office/powerpoint/2010/main" val="405254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04" y="365793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>
                <a:latin typeface="Century" panose="02040604050505020304" pitchFamily="18" charset="0"/>
              </a:rPr>
              <a:t>Рефлексия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6" r="66157" b="25888"/>
          <a:stretch/>
        </p:blipFill>
        <p:spPr>
          <a:xfrm>
            <a:off x="984334" y="1543258"/>
            <a:ext cx="1865746" cy="2051323"/>
          </a:xfrm>
          <a:prstGeom prst="rect">
            <a:avLst/>
          </a:prstGeom>
        </p:spPr>
      </p:pic>
      <p:sp>
        <p:nvSpPr>
          <p:cNvPr id="22" name="Google Shape;486;p37"/>
          <p:cNvSpPr txBox="1">
            <a:spLocks/>
          </p:cNvSpPr>
          <p:nvPr/>
        </p:nvSpPr>
        <p:spPr>
          <a:xfrm>
            <a:off x="787765" y="3594581"/>
            <a:ext cx="2323588" cy="91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Мне понравилась моя работа!</a:t>
            </a:r>
          </a:p>
          <a:p>
            <a:pPr marL="0" indent="0" algn="ctr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все понял!</a:t>
            </a:r>
          </a:p>
        </p:txBody>
      </p:sp>
      <p:sp>
        <p:nvSpPr>
          <p:cNvPr id="23" name="Google Shape;486;p37"/>
          <p:cNvSpPr txBox="1">
            <a:spLocks/>
          </p:cNvSpPr>
          <p:nvPr/>
        </p:nvSpPr>
        <p:spPr>
          <a:xfrm>
            <a:off x="3410206" y="3615540"/>
            <a:ext cx="2323588" cy="91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Мне не совсем понравилась моя работа. Я не всё понял.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8" t="24567" r="33078" b="24707"/>
          <a:stretch/>
        </p:blipFill>
        <p:spPr>
          <a:xfrm>
            <a:off x="3639127" y="1543257"/>
            <a:ext cx="1865746" cy="2051323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6" t="25155" b="24119"/>
          <a:stretch/>
        </p:blipFill>
        <p:spPr>
          <a:xfrm>
            <a:off x="6309096" y="1564217"/>
            <a:ext cx="1865746" cy="2051323"/>
          </a:xfrm>
          <a:prstGeom prst="rect">
            <a:avLst/>
          </a:prstGeom>
        </p:spPr>
      </p:pic>
      <p:sp>
        <p:nvSpPr>
          <p:cNvPr id="26" name="Google Shape;486;p37"/>
          <p:cNvSpPr txBox="1">
            <a:spLocks/>
          </p:cNvSpPr>
          <p:nvPr/>
        </p:nvSpPr>
        <p:spPr>
          <a:xfrm>
            <a:off x="6080175" y="3737224"/>
            <a:ext cx="2323588" cy="66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недоволен своей работой. Я ничего не понял.</a:t>
            </a:r>
          </a:p>
        </p:txBody>
      </p:sp>
    </p:spTree>
    <p:extLst>
      <p:ext uri="{BB962C8B-B14F-4D97-AF65-F5344CB8AC3E}">
        <p14:creationId xmlns:p14="http://schemas.microsoft.com/office/powerpoint/2010/main" val="309787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641320" y="376326"/>
            <a:ext cx="786135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>
                <a:latin typeface="Century" panose="02040604050505020304" pitchFamily="18" charset="0"/>
              </a:rPr>
              <a:t>Источники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3" name="Google Shape;486;p37"/>
          <p:cNvSpPr txBox="1">
            <a:spLocks/>
          </p:cNvSpPr>
          <p:nvPr/>
        </p:nvSpPr>
        <p:spPr>
          <a:xfrm>
            <a:off x="747906" y="1534354"/>
            <a:ext cx="7117244" cy="1666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1. 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https://no.11klasov.net/5239-okruzhayuschiy-mir-2-klass-v-2-chastyah-pleshakov-aa.html</a:t>
            </a:r>
            <a:endParaRPr lang="ru-RU" sz="18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2. 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https://learningapps.org/watch?v=p4iwb38hj26</a:t>
            </a:r>
            <a:endParaRPr lang="ru-RU" sz="18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3. 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https://ya.ru/video/preview/419812243306206082</a:t>
            </a:r>
            <a:endParaRPr lang="ru-RU" sz="18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0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273</Words>
  <Application>Microsoft Office PowerPoint</Application>
  <PresentationFormat>Экран (16:9)</PresentationFormat>
  <Paragraphs>46</Paragraphs>
  <Slides>15</Slides>
  <Notes>15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Calistoga</vt:lpstr>
      <vt:lpstr>Calibri</vt:lpstr>
      <vt:lpstr>Century</vt:lpstr>
      <vt:lpstr>Roboto Condensed Light</vt:lpstr>
      <vt:lpstr>Arial</vt:lpstr>
      <vt:lpstr>Chivo</vt:lpstr>
      <vt:lpstr>Bookman Old Style</vt:lpstr>
      <vt:lpstr>Тема Office</vt:lpstr>
      <vt:lpstr>Памятники моей малой родины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Народные промыслы России</dc:title>
  <dc:creator>user</dc:creator>
  <cp:lastModifiedBy>Анастасия Шевченко</cp:lastModifiedBy>
  <cp:revision>31</cp:revision>
  <dcterms:modified xsi:type="dcterms:W3CDTF">2026-06-22T19:46:33Z</dcterms:modified>
</cp:coreProperties>
</file>