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7"/>
  </p:notesMasterIdLst>
  <p:sldIdLst>
    <p:sldId id="256" r:id="rId2"/>
    <p:sldId id="257" r:id="rId3"/>
    <p:sldId id="312" r:id="rId4"/>
    <p:sldId id="258" r:id="rId5"/>
    <p:sldId id="262" r:id="rId6"/>
    <p:sldId id="269" r:id="rId7"/>
    <p:sldId id="263" r:id="rId8"/>
    <p:sldId id="264" r:id="rId9"/>
    <p:sldId id="265" r:id="rId10"/>
    <p:sldId id="270" r:id="rId11"/>
    <p:sldId id="275" r:id="rId12"/>
    <p:sldId id="313" r:id="rId13"/>
    <p:sldId id="314" r:id="rId14"/>
    <p:sldId id="316" r:id="rId15"/>
    <p:sldId id="315" r:id="rId16"/>
  </p:sldIdLst>
  <p:sldSz cx="9144000" cy="5143500" type="screen16x9"/>
  <p:notesSz cx="6858000" cy="9144000"/>
  <p:embeddedFontLst>
    <p:embeddedFont>
      <p:font typeface="Century" panose="02040604050505020304" pitchFamily="18" charset="0"/>
      <p:regular r:id="rId18"/>
    </p:embeddedFont>
    <p:embeddedFont>
      <p:font typeface="Calistoga" panose="020B0604020202020204" charset="0"/>
      <p:regular r:id="rId19"/>
    </p:embeddedFont>
    <p:embeddedFont>
      <p:font typeface="Chivo" panose="020B0604020202020204" charset="0"/>
      <p:regular r:id="rId20"/>
      <p:bold r:id="rId21"/>
      <p:italic r:id="rId22"/>
      <p:boldItalic r:id="rId23"/>
    </p:embeddedFont>
    <p:embeddedFont>
      <p:font typeface="Gaegu" panose="020B0604020202020204" charset="0"/>
      <p:regular r:id="rId24"/>
      <p:bold r:id="rId25"/>
    </p:embeddedFont>
    <p:embeddedFont>
      <p:font typeface="Bookman Old Style" panose="02050604050505020204" pitchFamily="18" charset="0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20100E2-1A30-4AE2-ACD8-A9F40D08D3B7}">
  <a:tblStyle styleId="{820100E2-1A30-4AE2-ACD8-A9F40D08D3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1002" y="-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9863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99f2f57a71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99f2f57a71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649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7650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84183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29240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28794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87256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9840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41622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50720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44359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49556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>
            <a:spLocks noGrp="1"/>
          </p:cNvSpPr>
          <p:nvPr>
            <p:ph type="title"/>
          </p:nvPr>
        </p:nvSpPr>
        <p:spPr>
          <a:xfrm>
            <a:off x="893750" y="539400"/>
            <a:ext cx="7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893750" y="1139551"/>
            <a:ext cx="7356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>
            <a:spLocks noGrp="1"/>
          </p:cNvSpPr>
          <p:nvPr>
            <p:ph type="title"/>
          </p:nvPr>
        </p:nvSpPr>
        <p:spPr>
          <a:xfrm>
            <a:off x="893700" y="539400"/>
            <a:ext cx="7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2"/>
          </p:nvPr>
        </p:nvSpPr>
        <p:spPr>
          <a:xfrm>
            <a:off x="1622638" y="1736848"/>
            <a:ext cx="232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"/>
          </p:nvPr>
        </p:nvSpPr>
        <p:spPr>
          <a:xfrm>
            <a:off x="1622638" y="2247173"/>
            <a:ext cx="232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3"/>
          </p:nvPr>
        </p:nvSpPr>
        <p:spPr>
          <a:xfrm>
            <a:off x="5194263" y="1736848"/>
            <a:ext cx="232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4"/>
          </p:nvPr>
        </p:nvSpPr>
        <p:spPr>
          <a:xfrm>
            <a:off x="5194263" y="2247173"/>
            <a:ext cx="232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5"/>
          </p:nvPr>
        </p:nvSpPr>
        <p:spPr>
          <a:xfrm>
            <a:off x="1622638" y="3526613"/>
            <a:ext cx="232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6"/>
          </p:nvPr>
        </p:nvSpPr>
        <p:spPr>
          <a:xfrm>
            <a:off x="1622638" y="4036938"/>
            <a:ext cx="232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7"/>
          </p:nvPr>
        </p:nvSpPr>
        <p:spPr>
          <a:xfrm>
            <a:off x="5194263" y="3526613"/>
            <a:ext cx="232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8"/>
          </p:nvPr>
        </p:nvSpPr>
        <p:spPr>
          <a:xfrm>
            <a:off x="5194263" y="4036938"/>
            <a:ext cx="232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9" hasCustomPrompt="1"/>
          </p:nvPr>
        </p:nvSpPr>
        <p:spPr>
          <a:xfrm>
            <a:off x="2263738" y="1242873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title" idx="13" hasCustomPrompt="1"/>
          </p:nvPr>
        </p:nvSpPr>
        <p:spPr>
          <a:xfrm>
            <a:off x="2263738" y="3030951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43" name="Google Shape;143;p13"/>
          <p:cNvSpPr txBox="1">
            <a:spLocks noGrp="1"/>
          </p:cNvSpPr>
          <p:nvPr>
            <p:ph type="title" idx="14" hasCustomPrompt="1"/>
          </p:nvPr>
        </p:nvSpPr>
        <p:spPr>
          <a:xfrm>
            <a:off x="5835363" y="1242873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 idx="15" hasCustomPrompt="1"/>
          </p:nvPr>
        </p:nvSpPr>
        <p:spPr>
          <a:xfrm>
            <a:off x="5835363" y="3030951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body" idx="1"/>
          </p:nvPr>
        </p:nvSpPr>
        <p:spPr>
          <a:xfrm flipH="1">
            <a:off x="4128094" y="2101800"/>
            <a:ext cx="3872400" cy="235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title"/>
          </p:nvPr>
        </p:nvSpPr>
        <p:spPr>
          <a:xfrm flipH="1">
            <a:off x="4128094" y="941700"/>
            <a:ext cx="3678300" cy="11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>
            <a:spLocks noGrp="1"/>
          </p:cNvSpPr>
          <p:nvPr>
            <p:ph type="title"/>
          </p:nvPr>
        </p:nvSpPr>
        <p:spPr>
          <a:xfrm>
            <a:off x="2997325" y="725275"/>
            <a:ext cx="3149400" cy="9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title" idx="2"/>
          </p:nvPr>
        </p:nvSpPr>
        <p:spPr>
          <a:xfrm>
            <a:off x="1188588" y="2377673"/>
            <a:ext cx="1695000" cy="6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 idx="3"/>
          </p:nvPr>
        </p:nvSpPr>
        <p:spPr>
          <a:xfrm>
            <a:off x="6260412" y="2377673"/>
            <a:ext cx="1695000" cy="6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1"/>
          </p:nvPr>
        </p:nvSpPr>
        <p:spPr>
          <a:xfrm>
            <a:off x="6043100" y="3114175"/>
            <a:ext cx="2129700" cy="8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4"/>
          </p:nvPr>
        </p:nvSpPr>
        <p:spPr>
          <a:xfrm>
            <a:off x="971300" y="3114175"/>
            <a:ext cx="2129700" cy="8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2"/>
          <p:cNvSpPr txBox="1">
            <a:spLocks noGrp="1"/>
          </p:cNvSpPr>
          <p:nvPr>
            <p:ph type="title" idx="2"/>
          </p:nvPr>
        </p:nvSpPr>
        <p:spPr>
          <a:xfrm>
            <a:off x="5139375" y="125895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6" name="Google Shape;266;p22"/>
          <p:cNvSpPr txBox="1">
            <a:spLocks noGrp="1"/>
          </p:cNvSpPr>
          <p:nvPr>
            <p:ph type="subTitle" idx="1"/>
          </p:nvPr>
        </p:nvSpPr>
        <p:spPr>
          <a:xfrm>
            <a:off x="5139375" y="1670381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2"/>
          <p:cNvSpPr txBox="1">
            <a:spLocks noGrp="1"/>
          </p:cNvSpPr>
          <p:nvPr>
            <p:ph type="title" idx="3"/>
          </p:nvPr>
        </p:nvSpPr>
        <p:spPr>
          <a:xfrm>
            <a:off x="5139369" y="2347788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" name="Google Shape;268;p22"/>
          <p:cNvSpPr txBox="1">
            <a:spLocks noGrp="1"/>
          </p:cNvSpPr>
          <p:nvPr>
            <p:ph type="subTitle" idx="4"/>
          </p:nvPr>
        </p:nvSpPr>
        <p:spPr>
          <a:xfrm>
            <a:off x="5139372" y="2759213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2"/>
          <p:cNvSpPr txBox="1">
            <a:spLocks noGrp="1"/>
          </p:cNvSpPr>
          <p:nvPr>
            <p:ph type="title" idx="5"/>
          </p:nvPr>
        </p:nvSpPr>
        <p:spPr>
          <a:xfrm>
            <a:off x="5139371" y="3436619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0" name="Google Shape;270;p22"/>
          <p:cNvSpPr txBox="1">
            <a:spLocks noGrp="1"/>
          </p:cNvSpPr>
          <p:nvPr>
            <p:ph type="subTitle" idx="6"/>
          </p:nvPr>
        </p:nvSpPr>
        <p:spPr>
          <a:xfrm>
            <a:off x="5139375" y="3848044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7"/>
          <p:cNvSpPr txBox="1">
            <a:spLocks noGrp="1"/>
          </p:cNvSpPr>
          <p:nvPr>
            <p:ph type="title" idx="2"/>
          </p:nvPr>
        </p:nvSpPr>
        <p:spPr>
          <a:xfrm>
            <a:off x="893750" y="1767650"/>
            <a:ext cx="2046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7" name="Google Shape;357;p27"/>
          <p:cNvSpPr txBox="1">
            <a:spLocks noGrp="1"/>
          </p:cNvSpPr>
          <p:nvPr>
            <p:ph type="subTitle" idx="1"/>
          </p:nvPr>
        </p:nvSpPr>
        <p:spPr>
          <a:xfrm>
            <a:off x="893750" y="2179075"/>
            <a:ext cx="2046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7"/>
          <p:cNvSpPr txBox="1">
            <a:spLocks noGrp="1"/>
          </p:cNvSpPr>
          <p:nvPr>
            <p:ph type="title" idx="3"/>
          </p:nvPr>
        </p:nvSpPr>
        <p:spPr>
          <a:xfrm>
            <a:off x="6203979" y="1767650"/>
            <a:ext cx="2046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9" name="Google Shape;359;p27"/>
          <p:cNvSpPr txBox="1">
            <a:spLocks noGrp="1"/>
          </p:cNvSpPr>
          <p:nvPr>
            <p:ph type="subTitle" idx="4"/>
          </p:nvPr>
        </p:nvSpPr>
        <p:spPr>
          <a:xfrm>
            <a:off x="6203975" y="2179075"/>
            <a:ext cx="2046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27"/>
          <p:cNvSpPr txBox="1">
            <a:spLocks noGrp="1"/>
          </p:cNvSpPr>
          <p:nvPr>
            <p:ph type="title" idx="5"/>
          </p:nvPr>
        </p:nvSpPr>
        <p:spPr>
          <a:xfrm>
            <a:off x="893750" y="3429650"/>
            <a:ext cx="2046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1" name="Google Shape;361;p27"/>
          <p:cNvSpPr txBox="1">
            <a:spLocks noGrp="1"/>
          </p:cNvSpPr>
          <p:nvPr>
            <p:ph type="subTitle" idx="6"/>
          </p:nvPr>
        </p:nvSpPr>
        <p:spPr>
          <a:xfrm>
            <a:off x="893750" y="3841075"/>
            <a:ext cx="2046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27"/>
          <p:cNvSpPr txBox="1">
            <a:spLocks noGrp="1"/>
          </p:cNvSpPr>
          <p:nvPr>
            <p:ph type="title" idx="7"/>
          </p:nvPr>
        </p:nvSpPr>
        <p:spPr>
          <a:xfrm>
            <a:off x="6203979" y="3429650"/>
            <a:ext cx="2046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3" name="Google Shape;363;p27"/>
          <p:cNvSpPr txBox="1">
            <a:spLocks noGrp="1"/>
          </p:cNvSpPr>
          <p:nvPr>
            <p:ph type="subTitle" idx="8"/>
          </p:nvPr>
        </p:nvSpPr>
        <p:spPr>
          <a:xfrm>
            <a:off x="6204027" y="3841075"/>
            <a:ext cx="2046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>
            <a:spLocks noGrp="1"/>
          </p:cNvSpPr>
          <p:nvPr>
            <p:ph type="title"/>
          </p:nvPr>
        </p:nvSpPr>
        <p:spPr>
          <a:xfrm>
            <a:off x="1198550" y="1077451"/>
            <a:ext cx="3852000" cy="181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1"/>
          </p:nvPr>
        </p:nvSpPr>
        <p:spPr>
          <a:xfrm>
            <a:off x="1198550" y="2892627"/>
            <a:ext cx="3852000" cy="11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>
            <a:spLocks noGrp="1"/>
          </p:cNvSpPr>
          <p:nvPr>
            <p:ph type="title"/>
          </p:nvPr>
        </p:nvSpPr>
        <p:spPr>
          <a:xfrm>
            <a:off x="5218500" y="1628000"/>
            <a:ext cx="3044100" cy="81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subTitle" idx="1"/>
          </p:nvPr>
        </p:nvSpPr>
        <p:spPr>
          <a:xfrm>
            <a:off x="5218500" y="2447250"/>
            <a:ext cx="3044100" cy="12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ED2F3-3CFA-46DD-986A-897F274C3C05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438C8-D493-4CF6-9AE2-D805871ACB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60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microsoft.com/office/2007/relationships/hdphoto" Target="../media/hdphoto1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slide" Target="slide6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YwPoyTy40lFlhjDfQ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7"/>
          <p:cNvSpPr txBox="1">
            <a:spLocks noGrp="1"/>
          </p:cNvSpPr>
          <p:nvPr>
            <p:ph type="ctrTitle"/>
          </p:nvPr>
        </p:nvSpPr>
        <p:spPr>
          <a:xfrm>
            <a:off x="944545" y="1597688"/>
            <a:ext cx="7254909" cy="9740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000" b="1" dirty="0" smtClean="0">
                <a:solidFill>
                  <a:schemeClr val="dk2"/>
                </a:solidFill>
                <a:latin typeface="Century" panose="02040604050505020304" pitchFamily="18" charset="0"/>
              </a:rPr>
              <a:t>Тема презентации</a:t>
            </a:r>
            <a:endParaRPr sz="4700" b="1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486" name="Google Shape;486;p37"/>
          <p:cNvSpPr txBox="1">
            <a:spLocks noGrp="1"/>
          </p:cNvSpPr>
          <p:nvPr>
            <p:ph type="subTitle" idx="1"/>
          </p:nvPr>
        </p:nvSpPr>
        <p:spPr>
          <a:xfrm>
            <a:off x="1179176" y="3073978"/>
            <a:ext cx="6785648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Цель + можно добавить картинку</a:t>
            </a:r>
            <a:endParaRPr lang="ru-RU" sz="12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88;p37"/>
          <p:cNvSpPr txBox="1">
            <a:spLocks/>
          </p:cNvSpPr>
          <p:nvPr/>
        </p:nvSpPr>
        <p:spPr>
          <a:xfrm>
            <a:off x="641320" y="582804"/>
            <a:ext cx="7861359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dirty="0" smtClean="0">
                <a:latin typeface="Century" panose="02040604050505020304" pitchFamily="18" charset="0"/>
              </a:rPr>
              <a:t>Воспитательные задачи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7" name="Google Shape;486;p37"/>
          <p:cNvSpPr txBox="1">
            <a:spLocks/>
          </p:cNvSpPr>
          <p:nvPr/>
        </p:nvSpPr>
        <p:spPr>
          <a:xfrm>
            <a:off x="956351" y="1472953"/>
            <a:ext cx="7231296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Chivo"/>
              <a:buAutoNum type="arabicPeriod"/>
              <a:defRPr sz="12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800" dirty="0" smtClean="0">
                <a:solidFill>
                  <a:schemeClr val="tx1"/>
                </a:solidFill>
                <a:latin typeface="Bookman Old Style" pitchFamily="18" charset="0"/>
              </a:rPr>
              <a:t>Воспитание уважения…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800" dirty="0" smtClean="0">
                <a:solidFill>
                  <a:schemeClr val="tx1"/>
                </a:solidFill>
                <a:latin typeface="Bookman Old Style" pitchFamily="18" charset="0"/>
              </a:rPr>
              <a:t>Формирование чувства……</a:t>
            </a:r>
            <a:r>
              <a:rPr lang="ru-RU" sz="1800" dirty="0" smtClean="0">
                <a:solidFill>
                  <a:srgbClr val="FF0000"/>
                </a:solidFill>
                <a:latin typeface="Bookman Old Style" pitchFamily="18" charset="0"/>
              </a:rPr>
              <a:t>у обучающихся младшего школьного возраста, в том числе с ЗПР</a:t>
            </a:r>
            <a:endParaRPr lang="ru-RU" sz="1800" dirty="0">
              <a:solidFill>
                <a:srgbClr val="FF0000"/>
              </a:solidFill>
              <a:latin typeface="Bookman Old Style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800" dirty="0" smtClean="0">
                <a:solidFill>
                  <a:schemeClr val="tx1"/>
                </a:solidFill>
                <a:latin typeface="Bookman Old Style" pitchFamily="18" charset="0"/>
              </a:rPr>
              <a:t>Развитие…..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800" dirty="0" smtClean="0">
                <a:solidFill>
                  <a:schemeClr val="tx1"/>
                </a:solidFill>
                <a:latin typeface="Bookman Old Style" pitchFamily="18" charset="0"/>
              </a:rPr>
              <a:t>Воспитание …...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ru-RU" sz="1800" dirty="0">
              <a:solidFill>
                <a:schemeClr val="tx1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88;p37"/>
          <p:cNvSpPr txBox="1">
            <a:spLocks/>
          </p:cNvSpPr>
          <p:nvPr/>
        </p:nvSpPr>
        <p:spPr>
          <a:xfrm>
            <a:off x="641320" y="411987"/>
            <a:ext cx="7861359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dirty="0" smtClean="0">
                <a:latin typeface="Century" panose="02040604050505020304" pitchFamily="18" charset="0"/>
              </a:rPr>
              <a:t>Личностные результаты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grpSp>
        <p:nvGrpSpPr>
          <p:cNvPr id="3" name="Google Shape;116;p12"/>
          <p:cNvGrpSpPr/>
          <p:nvPr/>
        </p:nvGrpSpPr>
        <p:grpSpPr>
          <a:xfrm>
            <a:off x="1292623" y="1435957"/>
            <a:ext cx="2999610" cy="1237955"/>
            <a:chOff x="0" y="-38100"/>
            <a:chExt cx="1339143" cy="289395"/>
          </a:xfrm>
        </p:grpSpPr>
        <p:sp>
          <p:nvSpPr>
            <p:cNvPr id="4" name="Google Shape;117;p12"/>
            <p:cNvSpPr/>
            <p:nvPr/>
          </p:nvSpPr>
          <p:spPr>
            <a:xfrm>
              <a:off x="0" y="0"/>
              <a:ext cx="1339143" cy="251295"/>
            </a:xfrm>
            <a:custGeom>
              <a:avLst/>
              <a:gdLst/>
              <a:ahLst/>
              <a:cxnLst/>
              <a:rect l="l" t="t" r="r" b="b"/>
              <a:pathLst>
                <a:path w="1339143" h="251295" extrusionOk="0">
                  <a:moveTo>
                    <a:pt x="77956" y="0"/>
                  </a:moveTo>
                  <a:lnTo>
                    <a:pt x="1261187" y="0"/>
                  </a:lnTo>
                  <a:cubicBezTo>
                    <a:pt x="1304241" y="0"/>
                    <a:pt x="1339143" y="34902"/>
                    <a:pt x="1339143" y="77956"/>
                  </a:cubicBezTo>
                  <a:lnTo>
                    <a:pt x="1339143" y="173339"/>
                  </a:lnTo>
                  <a:cubicBezTo>
                    <a:pt x="1339143" y="194014"/>
                    <a:pt x="1330930" y="213843"/>
                    <a:pt x="1316310" y="228462"/>
                  </a:cubicBezTo>
                  <a:cubicBezTo>
                    <a:pt x="1301690" y="243082"/>
                    <a:pt x="1281862" y="251295"/>
                    <a:pt x="1261187" y="251295"/>
                  </a:cubicBezTo>
                  <a:lnTo>
                    <a:pt x="77956" y="251295"/>
                  </a:lnTo>
                  <a:cubicBezTo>
                    <a:pt x="34902" y="251295"/>
                    <a:pt x="0" y="216393"/>
                    <a:pt x="0" y="173339"/>
                  </a:cubicBezTo>
                  <a:lnTo>
                    <a:pt x="0" y="77956"/>
                  </a:lnTo>
                  <a:cubicBezTo>
                    <a:pt x="0" y="34902"/>
                    <a:pt x="34902" y="0"/>
                    <a:pt x="77956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8;p12"/>
            <p:cNvSpPr txBox="1"/>
            <p:nvPr/>
          </p:nvSpPr>
          <p:spPr>
            <a:xfrm>
              <a:off x="0" y="-38100"/>
              <a:ext cx="1339143" cy="2893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120;p12"/>
          <p:cNvSpPr/>
          <p:nvPr/>
        </p:nvSpPr>
        <p:spPr>
          <a:xfrm>
            <a:off x="4819766" y="1598939"/>
            <a:ext cx="2998800" cy="1074973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762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36;p12"/>
          <p:cNvSpPr txBox="1"/>
          <p:nvPr/>
        </p:nvSpPr>
        <p:spPr>
          <a:xfrm>
            <a:off x="1442371" y="1756064"/>
            <a:ext cx="2700113" cy="76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3016"/>
              </a:lnSpc>
            </a:pPr>
            <a:r>
              <a:rPr lang="ru-RU" sz="1200" dirty="0">
                <a:latin typeface="Bookman Old Style" pitchFamily="18" charset="0"/>
              </a:rPr>
              <a:t>Развитие эстетического восприятия через знакомство с художественными особенностями разных промыслов.</a:t>
            </a:r>
            <a:endParaRPr sz="400" dirty="0">
              <a:latin typeface="Bookman Old Style" pitchFamily="18" charset="0"/>
            </a:endParaRPr>
          </a:p>
        </p:txBody>
      </p:sp>
      <p:sp>
        <p:nvSpPr>
          <p:cNvPr id="24" name="Google Shape;136;p12"/>
          <p:cNvSpPr txBox="1"/>
          <p:nvPr/>
        </p:nvSpPr>
        <p:spPr>
          <a:xfrm>
            <a:off x="5002086" y="1860517"/>
            <a:ext cx="2634160" cy="57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3016"/>
              </a:lnSpc>
            </a:pPr>
            <a:r>
              <a:rPr lang="ru-RU" sz="1200" dirty="0">
                <a:solidFill>
                  <a:srgbClr val="FFFFFF"/>
                </a:solidFill>
                <a:latin typeface="Bookman Old Style" pitchFamily="18" charset="0"/>
              </a:rPr>
              <a:t>Развитие чувства сопричастности к сохранению традиций.</a:t>
            </a:r>
            <a:endParaRPr sz="400" dirty="0">
              <a:solidFill>
                <a:srgbClr val="FFFFFF"/>
              </a:solidFill>
              <a:latin typeface="Bookman Old Style" pitchFamily="18" charset="0"/>
            </a:endParaRPr>
          </a:p>
        </p:txBody>
      </p:sp>
      <p:grpSp>
        <p:nvGrpSpPr>
          <p:cNvPr id="25" name="Google Shape;116;p12"/>
          <p:cNvGrpSpPr/>
          <p:nvPr/>
        </p:nvGrpSpPr>
        <p:grpSpPr>
          <a:xfrm>
            <a:off x="1292623" y="2859182"/>
            <a:ext cx="2999610" cy="1237955"/>
            <a:chOff x="0" y="-38100"/>
            <a:chExt cx="1339143" cy="289395"/>
          </a:xfrm>
        </p:grpSpPr>
        <p:sp>
          <p:nvSpPr>
            <p:cNvPr id="26" name="Google Shape;117;p12"/>
            <p:cNvSpPr/>
            <p:nvPr/>
          </p:nvSpPr>
          <p:spPr>
            <a:xfrm>
              <a:off x="0" y="0"/>
              <a:ext cx="1339143" cy="251295"/>
            </a:xfrm>
            <a:custGeom>
              <a:avLst/>
              <a:gdLst/>
              <a:ahLst/>
              <a:cxnLst/>
              <a:rect l="l" t="t" r="r" b="b"/>
              <a:pathLst>
                <a:path w="1339143" h="251295" extrusionOk="0">
                  <a:moveTo>
                    <a:pt x="77956" y="0"/>
                  </a:moveTo>
                  <a:lnTo>
                    <a:pt x="1261187" y="0"/>
                  </a:lnTo>
                  <a:cubicBezTo>
                    <a:pt x="1304241" y="0"/>
                    <a:pt x="1339143" y="34902"/>
                    <a:pt x="1339143" y="77956"/>
                  </a:cubicBezTo>
                  <a:lnTo>
                    <a:pt x="1339143" y="173339"/>
                  </a:lnTo>
                  <a:cubicBezTo>
                    <a:pt x="1339143" y="194014"/>
                    <a:pt x="1330930" y="213843"/>
                    <a:pt x="1316310" y="228462"/>
                  </a:cubicBezTo>
                  <a:cubicBezTo>
                    <a:pt x="1301690" y="243082"/>
                    <a:pt x="1281862" y="251295"/>
                    <a:pt x="1261187" y="251295"/>
                  </a:cubicBezTo>
                  <a:lnTo>
                    <a:pt x="77956" y="251295"/>
                  </a:lnTo>
                  <a:cubicBezTo>
                    <a:pt x="34902" y="251295"/>
                    <a:pt x="0" y="216393"/>
                    <a:pt x="0" y="173339"/>
                  </a:cubicBezTo>
                  <a:lnTo>
                    <a:pt x="0" y="77956"/>
                  </a:lnTo>
                  <a:cubicBezTo>
                    <a:pt x="0" y="34902"/>
                    <a:pt x="34902" y="0"/>
                    <a:pt x="77956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8;p12"/>
            <p:cNvSpPr txBox="1"/>
            <p:nvPr/>
          </p:nvSpPr>
          <p:spPr>
            <a:xfrm>
              <a:off x="0" y="-38100"/>
              <a:ext cx="1339143" cy="2893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120;p12"/>
          <p:cNvSpPr/>
          <p:nvPr/>
        </p:nvSpPr>
        <p:spPr>
          <a:xfrm>
            <a:off x="4819766" y="3022164"/>
            <a:ext cx="2998800" cy="1074973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762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36;p12"/>
          <p:cNvSpPr txBox="1"/>
          <p:nvPr/>
        </p:nvSpPr>
        <p:spPr>
          <a:xfrm>
            <a:off x="1292623" y="3105084"/>
            <a:ext cx="2978904" cy="101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3016"/>
              </a:lnSpc>
            </a:pPr>
            <a:r>
              <a:rPr lang="ru-RU" sz="1200" dirty="0">
                <a:latin typeface="Bookman Old Style" pitchFamily="18" charset="0"/>
              </a:rPr>
              <a:t>Формирование уважения к ручному труду с целью воспитания патриотических чувств у обучающихся младшего школьного возраста, в том числе с ЗПР</a:t>
            </a:r>
          </a:p>
          <a:p>
            <a:pPr lvl="0" algn="ctr">
              <a:lnSpc>
                <a:spcPct val="103016"/>
              </a:lnSpc>
            </a:pPr>
            <a:endParaRPr sz="400" dirty="0">
              <a:latin typeface="Bookman Old Style" pitchFamily="18" charset="0"/>
            </a:endParaRPr>
          </a:p>
        </p:txBody>
      </p:sp>
      <p:sp>
        <p:nvSpPr>
          <p:cNvPr id="30" name="Google Shape;136;p12"/>
          <p:cNvSpPr txBox="1"/>
          <p:nvPr/>
        </p:nvSpPr>
        <p:spPr>
          <a:xfrm>
            <a:off x="5002086" y="3179289"/>
            <a:ext cx="2634160" cy="76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3016"/>
              </a:lnSpc>
            </a:pPr>
            <a:r>
              <a:rPr lang="ru-RU" sz="1200" dirty="0">
                <a:solidFill>
                  <a:srgbClr val="FFFFFF"/>
                </a:solidFill>
                <a:latin typeface="Bookman Old Style" pitchFamily="18" charset="0"/>
              </a:rPr>
              <a:t>Воспитание бережного отношения к природным материалам, используемым в промыслах.</a:t>
            </a:r>
            <a:endParaRPr sz="400" dirty="0">
              <a:solidFill>
                <a:srgbClr val="FFFFFF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81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488;p37"/>
          <p:cNvSpPr txBox="1">
            <a:spLocks/>
          </p:cNvSpPr>
          <p:nvPr/>
        </p:nvSpPr>
        <p:spPr>
          <a:xfrm>
            <a:off x="1034092" y="954594"/>
            <a:ext cx="7075813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ru-RU" sz="2400" b="1" dirty="0">
                <a:latin typeface="Century" panose="02040604050505020304" pitchFamily="18" charset="0"/>
              </a:rPr>
              <a:t>Инструкция по просмотру виртуальной экскурсии 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latin typeface="Century" panose="02040604050505020304" pitchFamily="18" charset="0"/>
              </a:rPr>
              <a:t>и выполнению заданий</a:t>
            </a:r>
          </a:p>
        </p:txBody>
      </p:sp>
      <p:sp>
        <p:nvSpPr>
          <p:cNvPr id="37" name="Google Shape;486;p37"/>
          <p:cNvSpPr txBox="1">
            <a:spLocks noGrp="1"/>
          </p:cNvSpPr>
          <p:nvPr>
            <p:ph type="subTitle" idx="1"/>
          </p:nvPr>
        </p:nvSpPr>
        <p:spPr>
          <a:xfrm>
            <a:off x="956351" y="1794500"/>
            <a:ext cx="723129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180975" algn="l"/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1. Сядь </a:t>
            </a: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удобно за компьютер или планшет вместе с родителями. </a:t>
            </a:r>
          </a:p>
          <a:p>
            <a:pPr marL="0" indent="180975" algn="l"/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2. Смотри внимательно на экран — там будут </a:t>
            </a:r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появляться……</a:t>
            </a:r>
          </a:p>
          <a:p>
            <a:pPr marL="0" indent="180975" algn="l"/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3</a:t>
            </a: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. Не нажимай лишние кнопки, чтобы не пропустить важное.</a:t>
            </a:r>
          </a:p>
          <a:p>
            <a:pPr marL="0" indent="180975" algn="l"/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4. Выполняй задания внимательно </a:t>
            </a:r>
          </a:p>
          <a:p>
            <a:pPr marL="0" indent="180975" algn="l"/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5. Если что-то непонятно - спроси родителей!</a:t>
            </a:r>
          </a:p>
        </p:txBody>
      </p:sp>
      <p:sp>
        <p:nvSpPr>
          <p:cNvPr id="38" name="5-конечная звезда 37">
            <a:hlinkClick r:id="rId3" action="ppaction://hlinksldjump"/>
          </p:cNvPr>
          <p:cNvSpPr/>
          <p:nvPr/>
        </p:nvSpPr>
        <p:spPr>
          <a:xfrm>
            <a:off x="4598769" y="3792093"/>
            <a:ext cx="293375" cy="323557"/>
          </a:xfrm>
          <a:prstGeom prst="star5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4-конечная звезда 38">
            <a:hlinkClick r:id="rId4" action="ppaction://hlinksldjump"/>
          </p:cNvPr>
          <p:cNvSpPr/>
          <p:nvPr/>
        </p:nvSpPr>
        <p:spPr>
          <a:xfrm>
            <a:off x="2130769" y="3820174"/>
            <a:ext cx="293375" cy="295421"/>
          </a:xfrm>
          <a:prstGeom prst="star4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2556430" y="3808592"/>
            <a:ext cx="2198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ookman Old Style" pitchFamily="18" charset="0"/>
              </a:rPr>
              <a:t>— переход на текст </a:t>
            </a:r>
            <a:endParaRPr lang="ru-RU" dirty="0">
              <a:latin typeface="Bookman Old Style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8639" y="3802864"/>
            <a:ext cx="2198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ookman Old Style" pitchFamily="18" charset="0"/>
              </a:rPr>
              <a:t>— переход домой</a:t>
            </a:r>
            <a:endParaRPr lang="ru-RU" dirty="0"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3"/>
          <p:cNvSpPr/>
          <p:nvPr/>
        </p:nvSpPr>
        <p:spPr>
          <a:xfrm flipH="1">
            <a:off x="964642" y="1128446"/>
            <a:ext cx="2803490" cy="305166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88;p37"/>
          <p:cNvSpPr txBox="1">
            <a:spLocks/>
          </p:cNvSpPr>
          <p:nvPr/>
        </p:nvSpPr>
        <p:spPr>
          <a:xfrm>
            <a:off x="3856794" y="746319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r>
              <a:rPr lang="ru-RU" sz="4000" dirty="0" smtClean="0">
                <a:latin typeface="Century" panose="02040604050505020304" pitchFamily="18" charset="0"/>
              </a:rPr>
              <a:t>Введение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9" name="Google Shape;486;p37"/>
          <p:cNvSpPr txBox="1">
            <a:spLocks/>
          </p:cNvSpPr>
          <p:nvPr/>
        </p:nvSpPr>
        <p:spPr>
          <a:xfrm>
            <a:off x="3856793" y="1683968"/>
            <a:ext cx="4330853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180975">
              <a:buNone/>
            </a:pPr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КРАТКОЕ ВВЕДЕНИЕ</a:t>
            </a:r>
            <a:endParaRPr lang="ru-RU" sz="1600" b="1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6" name="Google Shape;486;p37"/>
          <p:cNvSpPr txBox="1">
            <a:spLocks/>
          </p:cNvSpPr>
          <p:nvPr/>
        </p:nvSpPr>
        <p:spPr>
          <a:xfrm>
            <a:off x="1363311" y="2416380"/>
            <a:ext cx="2006151" cy="475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2921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●"/>
              <a:defRPr sz="32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8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4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ru-RU" sz="1600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КАРТИНКА</a:t>
            </a:r>
            <a:endParaRPr lang="ru-RU" sz="1200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ru-RU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0"/>
          <p:cNvSpPr/>
          <p:nvPr/>
        </p:nvSpPr>
        <p:spPr>
          <a:xfrm>
            <a:off x="1426867" y="463200"/>
            <a:ext cx="6260122" cy="1523700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488;p37"/>
          <p:cNvSpPr txBox="1">
            <a:spLocks/>
          </p:cNvSpPr>
          <p:nvPr/>
        </p:nvSpPr>
        <p:spPr>
          <a:xfrm>
            <a:off x="2020350" y="808236"/>
            <a:ext cx="5103299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r>
              <a:rPr lang="ru-RU" sz="4000" dirty="0" smtClean="0">
                <a:latin typeface="Century" panose="02040604050505020304" pitchFamily="18" charset="0"/>
              </a:rPr>
              <a:t>Маршрут экскурсии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10" name="Google Shape;696;p50"/>
          <p:cNvSpPr/>
          <p:nvPr/>
        </p:nvSpPr>
        <p:spPr>
          <a:xfrm>
            <a:off x="621691" y="2571750"/>
            <a:ext cx="2112770" cy="2194642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696;p50"/>
          <p:cNvSpPr/>
          <p:nvPr/>
        </p:nvSpPr>
        <p:spPr>
          <a:xfrm>
            <a:off x="6389443" y="2571750"/>
            <a:ext cx="2112770" cy="21946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96;p50"/>
          <p:cNvSpPr/>
          <p:nvPr/>
        </p:nvSpPr>
        <p:spPr>
          <a:xfrm>
            <a:off x="3515615" y="2571750"/>
            <a:ext cx="2112770" cy="2194642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19;p16"/>
          <p:cNvSpPr/>
          <p:nvPr/>
        </p:nvSpPr>
        <p:spPr>
          <a:xfrm>
            <a:off x="411852" y="2245224"/>
            <a:ext cx="2532447" cy="475222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rgbClr val="FFFFFF"/>
          </a:solidFill>
          <a:ln w="762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2;p16"/>
          <p:cNvSpPr/>
          <p:nvPr/>
        </p:nvSpPr>
        <p:spPr>
          <a:xfrm>
            <a:off x="3337433" y="2245224"/>
            <a:ext cx="2532447" cy="475222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rgbClr val="FFFFFF"/>
          </a:solidFill>
          <a:ln w="762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225;p16"/>
          <p:cNvSpPr/>
          <p:nvPr/>
        </p:nvSpPr>
        <p:spPr>
          <a:xfrm>
            <a:off x="6179604" y="2245224"/>
            <a:ext cx="2532447" cy="475222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rgbClr val="FFFFFF"/>
          </a:solidFill>
          <a:ln w="762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229;p16"/>
          <p:cNvSpPr txBox="1"/>
          <p:nvPr/>
        </p:nvSpPr>
        <p:spPr>
          <a:xfrm>
            <a:off x="714635" y="2337302"/>
            <a:ext cx="1926882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u="none" strike="noStrike" cap="none" dirty="0" smtClean="0">
                <a:solidFill>
                  <a:srgbClr val="312241"/>
                </a:solidFill>
                <a:latin typeface="Gaegu"/>
                <a:ea typeface="Gaegu"/>
                <a:cs typeface="Gaegu"/>
                <a:sym typeface="Gaegu"/>
              </a:rPr>
              <a:t>НАЗВАНИЕ</a:t>
            </a:r>
            <a:endParaRPr sz="700" dirty="0"/>
          </a:p>
        </p:txBody>
      </p:sp>
      <p:sp>
        <p:nvSpPr>
          <p:cNvPr id="35" name="Google Shape;231;p16"/>
          <p:cNvSpPr txBox="1"/>
          <p:nvPr/>
        </p:nvSpPr>
        <p:spPr>
          <a:xfrm>
            <a:off x="3640216" y="2337302"/>
            <a:ext cx="1926882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3016"/>
              </a:lnSpc>
            </a:pPr>
            <a:r>
              <a:rPr lang="ru-RU" sz="1800" b="1" dirty="0">
                <a:solidFill>
                  <a:srgbClr val="312241"/>
                </a:solidFill>
                <a:latin typeface="Gaegu"/>
                <a:ea typeface="Gaegu"/>
                <a:cs typeface="Gaegu"/>
                <a:sym typeface="Gaegu"/>
              </a:rPr>
              <a:t>НАЗВАНИЕ</a:t>
            </a:r>
            <a:endParaRPr lang="ru-RU" sz="700" dirty="0"/>
          </a:p>
        </p:txBody>
      </p:sp>
      <p:sp>
        <p:nvSpPr>
          <p:cNvPr id="36" name="Google Shape;233;p16"/>
          <p:cNvSpPr txBox="1"/>
          <p:nvPr/>
        </p:nvSpPr>
        <p:spPr>
          <a:xfrm>
            <a:off x="6482386" y="2337302"/>
            <a:ext cx="1926882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3016"/>
              </a:lnSpc>
            </a:pPr>
            <a:r>
              <a:rPr lang="ru-RU" sz="1800" b="1" dirty="0">
                <a:solidFill>
                  <a:srgbClr val="312241"/>
                </a:solidFill>
                <a:latin typeface="Gaegu"/>
                <a:ea typeface="Gaegu"/>
                <a:cs typeface="Gaegu"/>
                <a:sym typeface="Gaegu"/>
              </a:rPr>
              <a:t>НАЗВАНИЕ</a:t>
            </a:r>
            <a:endParaRPr lang="ru-RU" sz="700" dirty="0"/>
          </a:p>
        </p:txBody>
      </p:sp>
      <p:sp>
        <p:nvSpPr>
          <p:cNvPr id="40" name="4-конечная звезда 39">
            <a:hlinkClick r:id="rId3" action="ppaction://hlinksldjump"/>
          </p:cNvPr>
          <p:cNvSpPr/>
          <p:nvPr/>
        </p:nvSpPr>
        <p:spPr>
          <a:xfrm>
            <a:off x="2339169" y="4316014"/>
            <a:ext cx="293375" cy="295421"/>
          </a:xfrm>
          <a:prstGeom prst="star4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4-конечная звезда 40">
            <a:hlinkClick r:id="rId4" action="ppaction://hlinksldjump"/>
          </p:cNvPr>
          <p:cNvSpPr/>
          <p:nvPr/>
        </p:nvSpPr>
        <p:spPr>
          <a:xfrm>
            <a:off x="5219245" y="4316014"/>
            <a:ext cx="293375" cy="295421"/>
          </a:xfrm>
          <a:prstGeom prst="star4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4-конечная звезда 41">
            <a:hlinkClick r:id="rId5" action="ppaction://hlinksldjump"/>
          </p:cNvPr>
          <p:cNvSpPr/>
          <p:nvPr/>
        </p:nvSpPr>
        <p:spPr>
          <a:xfrm>
            <a:off x="8115893" y="4316013"/>
            <a:ext cx="293375" cy="295421"/>
          </a:xfrm>
          <a:prstGeom prst="star4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>
            <a:endCxn id="12" idx="1"/>
          </p:cNvCxnSpPr>
          <p:nvPr/>
        </p:nvCxnSpPr>
        <p:spPr>
          <a:xfrm>
            <a:off x="2734461" y="3669071"/>
            <a:ext cx="781154" cy="0"/>
          </a:xfrm>
          <a:prstGeom prst="straightConnector1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/>
          <p:nvPr/>
        </p:nvCxnSpPr>
        <p:spPr>
          <a:xfrm>
            <a:off x="5628385" y="3669071"/>
            <a:ext cx="781154" cy="0"/>
          </a:xfrm>
          <a:prstGeom prst="straightConnector1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/>
          <p:nvPr/>
        </p:nvSpPr>
        <p:spPr>
          <a:xfrm>
            <a:off x="3235201" y="1464125"/>
            <a:ext cx="2673716" cy="272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488;p37"/>
          <p:cNvSpPr txBox="1">
            <a:spLocks/>
          </p:cNvSpPr>
          <p:nvPr/>
        </p:nvSpPr>
        <p:spPr>
          <a:xfrm>
            <a:off x="2948363" y="699870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dirty="0" smtClean="0">
                <a:latin typeface="Century" panose="02040604050505020304" pitchFamily="18" charset="0"/>
              </a:rPr>
              <a:t>Название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26" name="Google Shape;486;p37"/>
          <p:cNvSpPr txBox="1">
            <a:spLocks/>
          </p:cNvSpPr>
          <p:nvPr/>
        </p:nvSpPr>
        <p:spPr>
          <a:xfrm>
            <a:off x="812143" y="1226225"/>
            <a:ext cx="2503813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180975">
              <a:buNone/>
            </a:pPr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ТЕКСТ</a:t>
            </a:r>
            <a:endParaRPr lang="ru-RU" sz="1600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  <a:p>
            <a:pPr marL="0" indent="180975">
              <a:buNone/>
            </a:pPr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 </a:t>
            </a:r>
            <a:endParaRPr lang="ru-RU" sz="1600" b="1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08915" y="2909262"/>
            <a:ext cx="2487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Bookman Old Style" pitchFamily="18" charset="0"/>
              </a:rPr>
              <a:t>ЗВУК</a:t>
            </a:r>
            <a:endParaRPr lang="ru-RU" sz="2000" dirty="0">
              <a:latin typeface="Bookman Old Style" pitchFamily="18" charset="0"/>
            </a:endParaRPr>
          </a:p>
        </p:txBody>
      </p:sp>
      <p:sp>
        <p:nvSpPr>
          <p:cNvPr id="30" name="5-конечная звезда 29">
            <a:hlinkClick r:id="rId5" action="ppaction://hlinksldjump"/>
          </p:cNvPr>
          <p:cNvSpPr/>
          <p:nvPr/>
        </p:nvSpPr>
        <p:spPr>
          <a:xfrm>
            <a:off x="8286514" y="148731"/>
            <a:ext cx="606277" cy="538747"/>
          </a:xfrm>
          <a:prstGeom prst="star5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Песня &amp;quot;Гжель&amp;quot;,муз. и сл. З.Я.Роот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38390" y="1797091"/>
            <a:ext cx="1028281" cy="1028281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9" name="Google Shape;486;p37"/>
          <p:cNvSpPr txBox="1">
            <a:spLocks/>
          </p:cNvSpPr>
          <p:nvPr/>
        </p:nvSpPr>
        <p:spPr>
          <a:xfrm>
            <a:off x="3568924" y="2441252"/>
            <a:ext cx="2006151" cy="475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2921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●"/>
              <a:defRPr sz="32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8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4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ru-RU" sz="1600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КАРТИНКА</a:t>
            </a:r>
            <a:endParaRPr lang="ru-RU" sz="1200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ru-RU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89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20;p12"/>
          <p:cNvSpPr/>
          <p:nvPr/>
        </p:nvSpPr>
        <p:spPr>
          <a:xfrm>
            <a:off x="1579171" y="3890890"/>
            <a:ext cx="2998800" cy="537487"/>
          </a:xfrm>
          <a:custGeom>
            <a:avLst/>
            <a:gdLst/>
            <a:ahLst/>
            <a:cxnLst/>
            <a:rect l="l" t="t" r="r" b="b"/>
            <a:pathLst>
              <a:path w="1339143" h="251295" extrusionOk="0">
                <a:moveTo>
                  <a:pt x="77956" y="0"/>
                </a:moveTo>
                <a:lnTo>
                  <a:pt x="1261187" y="0"/>
                </a:lnTo>
                <a:cubicBezTo>
                  <a:pt x="1304241" y="0"/>
                  <a:pt x="1339143" y="34902"/>
                  <a:pt x="1339143" y="77956"/>
                </a:cubicBezTo>
                <a:lnTo>
                  <a:pt x="1339143" y="173339"/>
                </a:lnTo>
                <a:cubicBezTo>
                  <a:pt x="1339143" y="194014"/>
                  <a:pt x="1330930" y="213843"/>
                  <a:pt x="1316310" y="228462"/>
                </a:cubicBezTo>
                <a:cubicBezTo>
                  <a:pt x="1301690" y="243082"/>
                  <a:pt x="1281862" y="251295"/>
                  <a:pt x="1261187" y="251295"/>
                </a:cubicBezTo>
                <a:lnTo>
                  <a:pt x="77956" y="251295"/>
                </a:lnTo>
                <a:cubicBezTo>
                  <a:pt x="34902" y="251295"/>
                  <a:pt x="0" y="216393"/>
                  <a:pt x="0" y="173339"/>
                </a:cubicBezTo>
                <a:lnTo>
                  <a:pt x="0" y="77956"/>
                </a:lnTo>
                <a:cubicBezTo>
                  <a:pt x="0" y="34902"/>
                  <a:pt x="34902" y="0"/>
                  <a:pt x="77956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762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5"/>
          <p:cNvSpPr/>
          <p:nvPr/>
        </p:nvSpPr>
        <p:spPr>
          <a:xfrm>
            <a:off x="1148644" y="1375152"/>
            <a:ext cx="3856800" cy="239319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486;p37"/>
          <p:cNvSpPr txBox="1">
            <a:spLocks/>
          </p:cNvSpPr>
          <p:nvPr/>
        </p:nvSpPr>
        <p:spPr>
          <a:xfrm>
            <a:off x="5253514" y="1375478"/>
            <a:ext cx="3136859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180975">
              <a:buNone/>
            </a:pP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ТЕКСТ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0130" y="4005744"/>
            <a:ext cx="2873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Bookman Old Style" pitchFamily="18" charset="0"/>
              </a:rPr>
              <a:t>Ссылка на видео</a:t>
            </a:r>
            <a:endParaRPr lang="ru-RU" b="1" dirty="0">
              <a:latin typeface="Bookman Old Style" pitchFamily="18" charset="0"/>
            </a:endParaRPr>
          </a:p>
        </p:txBody>
      </p:sp>
      <p:sp>
        <p:nvSpPr>
          <p:cNvPr id="38" name="5-конечная звезда 37">
            <a:hlinkClick r:id="rId3" action="ppaction://hlinksldjump"/>
          </p:cNvPr>
          <p:cNvSpPr/>
          <p:nvPr/>
        </p:nvSpPr>
        <p:spPr>
          <a:xfrm>
            <a:off x="7573081" y="687478"/>
            <a:ext cx="606277" cy="538747"/>
          </a:xfrm>
          <a:prstGeom prst="star5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Google Shape;486;p37"/>
          <p:cNvSpPr txBox="1">
            <a:spLocks/>
          </p:cNvSpPr>
          <p:nvPr/>
        </p:nvSpPr>
        <p:spPr>
          <a:xfrm>
            <a:off x="2155879" y="2333849"/>
            <a:ext cx="2006151" cy="475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2921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●"/>
              <a:defRPr sz="32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8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4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ru-RU" sz="1600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КАРТИНКА</a:t>
            </a:r>
            <a:endParaRPr lang="ru-RU" sz="1200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ru-RU" dirty="0">
              <a:latin typeface="Bookman Old Style" panose="02050604050505020204" pitchFamily="18" charset="0"/>
            </a:endParaRPr>
          </a:p>
        </p:txBody>
      </p:sp>
      <p:sp>
        <p:nvSpPr>
          <p:cNvPr id="10" name="Google Shape;488;p37"/>
          <p:cNvSpPr txBox="1">
            <a:spLocks/>
          </p:cNvSpPr>
          <p:nvPr/>
        </p:nvSpPr>
        <p:spPr>
          <a:xfrm>
            <a:off x="2948363" y="508958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dirty="0" smtClean="0">
                <a:latin typeface="Century" panose="02040604050505020304" pitchFamily="18" charset="0"/>
              </a:rPr>
              <a:t>Название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6"/>
          <p:cNvSpPr/>
          <p:nvPr/>
        </p:nvSpPr>
        <p:spPr>
          <a:xfrm>
            <a:off x="3436463" y="1487155"/>
            <a:ext cx="2198700" cy="2557299"/>
          </a:xfrm>
          <a:prstGeom prst="rect">
            <a:avLst/>
          </a:prstGeom>
          <a:solidFill>
            <a:srgbClr val="E5D1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88;p37"/>
          <p:cNvSpPr txBox="1">
            <a:spLocks/>
          </p:cNvSpPr>
          <p:nvPr/>
        </p:nvSpPr>
        <p:spPr>
          <a:xfrm>
            <a:off x="2948363" y="601958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dirty="0">
                <a:latin typeface="Century" panose="02040604050505020304" pitchFamily="18" charset="0"/>
              </a:rPr>
              <a:t>Название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47" name="Google Shape;486;p37"/>
          <p:cNvSpPr txBox="1">
            <a:spLocks/>
          </p:cNvSpPr>
          <p:nvPr/>
        </p:nvSpPr>
        <p:spPr>
          <a:xfrm>
            <a:off x="812143" y="1598013"/>
            <a:ext cx="2503813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180975">
              <a:buNone/>
            </a:pP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ТЕКСТ</a:t>
            </a:r>
            <a:endParaRPr lang="ru-RU" sz="1600" b="1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48" name="Google Shape;486;p37"/>
          <p:cNvSpPr txBox="1">
            <a:spLocks/>
          </p:cNvSpPr>
          <p:nvPr/>
        </p:nvSpPr>
        <p:spPr>
          <a:xfrm>
            <a:off x="5868137" y="1598013"/>
            <a:ext cx="2503813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180975">
              <a:buNone/>
            </a:pP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ТЕКСТ</a:t>
            </a:r>
            <a:endParaRPr lang="ru-RU" sz="1600" b="1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49" name="5-конечная звезда 48">
            <a:hlinkClick r:id="rId3" action="ppaction://hlinksldjump"/>
          </p:cNvPr>
          <p:cNvSpPr/>
          <p:nvPr/>
        </p:nvSpPr>
        <p:spPr>
          <a:xfrm>
            <a:off x="8068811" y="245350"/>
            <a:ext cx="606277" cy="538747"/>
          </a:xfrm>
          <a:prstGeom prst="star5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Google Shape;486;p37"/>
          <p:cNvSpPr txBox="1">
            <a:spLocks/>
          </p:cNvSpPr>
          <p:nvPr/>
        </p:nvSpPr>
        <p:spPr>
          <a:xfrm>
            <a:off x="3568924" y="2441252"/>
            <a:ext cx="2006151" cy="475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2921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●"/>
              <a:defRPr sz="32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8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4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ru-RU" sz="1600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КАРТИНКА</a:t>
            </a:r>
            <a:endParaRPr lang="ru-RU" sz="1200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ru-RU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1"/>
          <p:cNvSpPr/>
          <p:nvPr/>
        </p:nvSpPr>
        <p:spPr>
          <a:xfrm>
            <a:off x="5413065" y="1286188"/>
            <a:ext cx="2736148" cy="283363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88;p37"/>
          <p:cNvSpPr txBox="1">
            <a:spLocks/>
          </p:cNvSpPr>
          <p:nvPr/>
        </p:nvSpPr>
        <p:spPr>
          <a:xfrm>
            <a:off x="1082212" y="984219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r>
              <a:rPr lang="ru-RU" sz="4000" dirty="0" smtClean="0">
                <a:latin typeface="Century" panose="02040604050505020304" pitchFamily="18" charset="0"/>
              </a:rPr>
              <a:t>Заключение 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9" name="Google Shape;486;p37"/>
          <p:cNvSpPr txBox="1">
            <a:spLocks/>
          </p:cNvSpPr>
          <p:nvPr/>
        </p:nvSpPr>
        <p:spPr>
          <a:xfrm>
            <a:off x="1082212" y="1741056"/>
            <a:ext cx="4330853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180975">
              <a:buNone/>
            </a:pPr>
            <a:r>
              <a:rPr lang="ru-RU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ТЕКСТ</a:t>
            </a:r>
            <a:endParaRPr lang="ru-RU" sz="1600" b="1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6" name="Google Shape;486;p37"/>
          <p:cNvSpPr txBox="1">
            <a:spLocks/>
          </p:cNvSpPr>
          <p:nvPr/>
        </p:nvSpPr>
        <p:spPr>
          <a:xfrm>
            <a:off x="5778063" y="2333850"/>
            <a:ext cx="2006151" cy="475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2921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●"/>
              <a:defRPr sz="32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8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4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ru-RU" sz="1600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КАРТИНКА</a:t>
            </a:r>
            <a:endParaRPr lang="ru-RU" sz="1200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ru-RU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488;p37"/>
          <p:cNvSpPr txBox="1">
            <a:spLocks/>
          </p:cNvSpPr>
          <p:nvPr/>
        </p:nvSpPr>
        <p:spPr>
          <a:xfrm>
            <a:off x="2948363" y="699870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b="1" dirty="0" smtClean="0">
                <a:latin typeface="Century" panose="02040604050505020304" pitchFamily="18" charset="0"/>
              </a:rPr>
              <a:t>Задание 1.</a:t>
            </a:r>
            <a:endParaRPr lang="ru-RU" sz="3600" b="1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15" name="Google Shape;486;p37"/>
          <p:cNvSpPr txBox="1">
            <a:spLocks/>
          </p:cNvSpPr>
          <p:nvPr/>
        </p:nvSpPr>
        <p:spPr>
          <a:xfrm>
            <a:off x="2406632" y="3346191"/>
            <a:ext cx="4330853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ctr">
              <a:buNone/>
            </a:pPr>
            <a:r>
              <a:rPr lang="ru-RU" sz="2400" b="1" dirty="0" smtClean="0">
                <a:solidFill>
                  <a:schemeClr val="tx1"/>
                </a:solidFill>
                <a:latin typeface="Bookman Old Style" pitchFamily="18" charset="0"/>
              </a:rPr>
              <a:t>Интерактивное задание!</a:t>
            </a:r>
          </a:p>
          <a:p>
            <a:pPr marL="0" indent="0" algn="ctr">
              <a:buNone/>
            </a:pPr>
            <a:r>
              <a:rPr lang="ru-RU" sz="2400" b="1" dirty="0" smtClean="0">
                <a:solidFill>
                  <a:schemeClr val="tx1"/>
                </a:solidFill>
                <a:latin typeface="Bookman Old Style" pitchFamily="18" charset="0"/>
              </a:rPr>
              <a:t>Нажми на картинку!</a:t>
            </a:r>
            <a:endParaRPr lang="ru-RU" sz="2400" b="1" dirty="0">
              <a:solidFill>
                <a:schemeClr val="tx1"/>
              </a:solidFill>
              <a:latin typeface="Bookman Old Style" pitchFamily="18" charset="0"/>
            </a:endParaRPr>
          </a:p>
        </p:txBody>
      </p:sp>
      <p:sp>
        <p:nvSpPr>
          <p:cNvPr id="5" name="Google Shape;486;p37"/>
          <p:cNvSpPr txBox="1">
            <a:spLocks/>
          </p:cNvSpPr>
          <p:nvPr/>
        </p:nvSpPr>
        <p:spPr>
          <a:xfrm>
            <a:off x="3568924" y="1850634"/>
            <a:ext cx="2006151" cy="475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2921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●"/>
              <a:defRPr sz="32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8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4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ru-RU" sz="1600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КАРТИНКА С ССЫЛКОЙ НА ИНТЕРАКТИВ</a:t>
            </a:r>
            <a:endParaRPr lang="ru-RU" sz="1200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ru-RU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8;p37"/>
          <p:cNvSpPr txBox="1">
            <a:spLocks/>
          </p:cNvSpPr>
          <p:nvPr/>
        </p:nvSpPr>
        <p:spPr>
          <a:xfrm>
            <a:off x="2948363" y="699870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b="1" dirty="0" smtClean="0">
                <a:latin typeface="Century" panose="02040604050505020304" pitchFamily="18" charset="0"/>
              </a:rPr>
              <a:t>Задание 2.</a:t>
            </a:r>
            <a:endParaRPr lang="ru-RU" sz="3600" b="1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3" name="Google Shape;486;p37"/>
          <p:cNvSpPr txBox="1">
            <a:spLocks/>
          </p:cNvSpPr>
          <p:nvPr/>
        </p:nvSpPr>
        <p:spPr>
          <a:xfrm>
            <a:off x="1082212" y="1630524"/>
            <a:ext cx="7117243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180975">
              <a:buNone/>
            </a:pPr>
            <a:r>
              <a:rPr lang="ru-RU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Вставь подходящие слова вместо многоточий:</a:t>
            </a:r>
          </a:p>
          <a:p>
            <a:pPr marL="0" indent="180975">
              <a:buNone/>
            </a:pPr>
            <a:endParaRPr lang="ru-RU" sz="1600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  <a:p>
            <a:pPr marL="0" indent="180975">
              <a:buNone/>
            </a:pPr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ПИСЬМЕННОЕ ЗАДАНИЕ</a:t>
            </a:r>
            <a:endParaRPr lang="ru-RU" sz="1600" b="1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26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8;p37"/>
          <p:cNvSpPr txBox="1">
            <a:spLocks/>
          </p:cNvSpPr>
          <p:nvPr/>
        </p:nvSpPr>
        <p:spPr>
          <a:xfrm>
            <a:off x="2948363" y="699870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b="1" dirty="0" smtClean="0">
                <a:latin typeface="Century" panose="02040604050505020304" pitchFamily="18" charset="0"/>
              </a:rPr>
              <a:t>Задание 3.</a:t>
            </a:r>
            <a:endParaRPr lang="ru-RU" sz="3600" b="1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3" name="Google Shape;486;p37"/>
          <p:cNvSpPr txBox="1">
            <a:spLocks/>
          </p:cNvSpPr>
          <p:nvPr/>
        </p:nvSpPr>
        <p:spPr>
          <a:xfrm>
            <a:off x="2406632" y="1828711"/>
            <a:ext cx="4330853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ctr">
              <a:buNone/>
            </a:pPr>
            <a:r>
              <a:rPr lang="ru-RU" sz="2400" b="1" dirty="0" smtClean="0">
                <a:solidFill>
                  <a:schemeClr val="bg2">
                    <a:lumMod val="90000"/>
                    <a:lumOff val="10000"/>
                  </a:schemeClr>
                </a:solidFill>
                <a:latin typeface="Bookman Old Style" pitchFamily="18" charset="0"/>
                <a:hlinkClick r:id="rId3"/>
              </a:rPr>
              <a:t>Пройди тест и проверь свои знания!</a:t>
            </a:r>
          </a:p>
          <a:p>
            <a:pPr marL="0" indent="0" algn="ctr">
              <a:buNone/>
            </a:pPr>
            <a:r>
              <a:rPr lang="ru-RU" sz="2400" b="1" dirty="0" smtClean="0">
                <a:solidFill>
                  <a:schemeClr val="bg2">
                    <a:lumMod val="90000"/>
                    <a:lumOff val="10000"/>
                  </a:schemeClr>
                </a:solidFill>
                <a:latin typeface="Bookman Old Style" pitchFamily="18" charset="0"/>
                <a:hlinkClick r:id="rId3"/>
              </a:rPr>
              <a:t>Нажми на текст!</a:t>
            </a:r>
            <a:endParaRPr lang="ru-RU" sz="2400" b="1" dirty="0" smtClean="0">
              <a:solidFill>
                <a:schemeClr val="bg2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  <a:p>
            <a:pPr marL="0" indent="0" algn="ctr">
              <a:buNone/>
            </a:pPr>
            <a:r>
              <a:rPr lang="ru-RU" sz="2400" b="1" dirty="0" smtClean="0">
                <a:solidFill>
                  <a:schemeClr val="tx1"/>
                </a:solidFill>
                <a:latin typeface="Bookman Old Style" pitchFamily="18" charset="0"/>
              </a:rPr>
              <a:t>ССЫЛКА НА ТЕКСТ</a:t>
            </a:r>
          </a:p>
          <a:p>
            <a:pPr marL="0" indent="0" algn="ctr">
              <a:buNone/>
            </a:pPr>
            <a:r>
              <a:rPr lang="ru-RU" sz="2400" b="1" dirty="0" smtClean="0">
                <a:solidFill>
                  <a:schemeClr val="tx1"/>
                </a:solidFill>
                <a:latin typeface="Bookman Old Style" pitchFamily="18" charset="0"/>
              </a:rPr>
              <a:t>ИЛИ ТВОРЧЕСТВО</a:t>
            </a:r>
            <a:endParaRPr lang="ru-RU" sz="2400" b="1" dirty="0">
              <a:solidFill>
                <a:schemeClr val="tx1"/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544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8;p37"/>
          <p:cNvSpPr txBox="1">
            <a:spLocks/>
          </p:cNvSpPr>
          <p:nvPr/>
        </p:nvSpPr>
        <p:spPr>
          <a:xfrm>
            <a:off x="2948363" y="438613"/>
            <a:ext cx="3247392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dirty="0" smtClean="0">
                <a:latin typeface="Century" panose="02040604050505020304" pitchFamily="18" charset="0"/>
              </a:rPr>
              <a:t>Рефлексия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86" r="66157" b="25888"/>
          <a:stretch/>
        </p:blipFill>
        <p:spPr>
          <a:xfrm>
            <a:off x="984334" y="1543258"/>
            <a:ext cx="1865746" cy="2051323"/>
          </a:xfrm>
          <a:prstGeom prst="rect">
            <a:avLst/>
          </a:prstGeom>
        </p:spPr>
      </p:pic>
      <p:sp>
        <p:nvSpPr>
          <p:cNvPr id="22" name="Google Shape;486;p37"/>
          <p:cNvSpPr txBox="1">
            <a:spLocks/>
          </p:cNvSpPr>
          <p:nvPr/>
        </p:nvSpPr>
        <p:spPr>
          <a:xfrm>
            <a:off x="787765" y="3594581"/>
            <a:ext cx="2323588" cy="91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ctr">
              <a:buNone/>
            </a:pPr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Я чувствую себя чудесно!</a:t>
            </a:r>
          </a:p>
          <a:p>
            <a:pPr marL="0" indent="0" algn="ctr">
              <a:buNone/>
            </a:pPr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Я все понял!</a:t>
            </a:r>
            <a:endParaRPr lang="ru-RU" sz="1600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23" name="Google Shape;486;p37"/>
          <p:cNvSpPr txBox="1">
            <a:spLocks/>
          </p:cNvSpPr>
          <p:nvPr/>
        </p:nvSpPr>
        <p:spPr>
          <a:xfrm>
            <a:off x="3410206" y="3615540"/>
            <a:ext cx="2323588" cy="912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ctr">
              <a:buNone/>
            </a:pPr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Я чувствую себя спокойно. Не все понял.</a:t>
            </a:r>
            <a:endParaRPr lang="ru-RU" sz="1600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8" t="24567" r="33078" b="24707"/>
          <a:stretch/>
        </p:blipFill>
        <p:spPr>
          <a:xfrm>
            <a:off x="3639127" y="1543257"/>
            <a:ext cx="1865746" cy="2051323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6" t="25155" b="24119"/>
          <a:stretch/>
        </p:blipFill>
        <p:spPr>
          <a:xfrm>
            <a:off x="6309096" y="1564217"/>
            <a:ext cx="1865746" cy="2051323"/>
          </a:xfrm>
          <a:prstGeom prst="rect">
            <a:avLst/>
          </a:prstGeom>
        </p:spPr>
      </p:pic>
      <p:sp>
        <p:nvSpPr>
          <p:cNvPr id="26" name="Google Shape;486;p37"/>
          <p:cNvSpPr txBox="1">
            <a:spLocks/>
          </p:cNvSpPr>
          <p:nvPr/>
        </p:nvSpPr>
        <p:spPr>
          <a:xfrm>
            <a:off x="6080175" y="3677704"/>
            <a:ext cx="2323588" cy="66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ctr">
              <a:buNone/>
            </a:pPr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Я расстроен. Ничего не понял.</a:t>
            </a:r>
            <a:endParaRPr lang="ru-RU" sz="1600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87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8;p37"/>
          <p:cNvSpPr txBox="1">
            <a:spLocks/>
          </p:cNvSpPr>
          <p:nvPr/>
        </p:nvSpPr>
        <p:spPr>
          <a:xfrm>
            <a:off x="641320" y="582804"/>
            <a:ext cx="7861359" cy="76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2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algn="ctr"/>
            <a:r>
              <a:rPr lang="ru-RU" sz="4000" dirty="0" smtClean="0">
                <a:latin typeface="Century" panose="02040604050505020304" pitchFamily="18" charset="0"/>
              </a:rPr>
              <a:t>Источники</a:t>
            </a:r>
            <a:endParaRPr lang="ru-RU" sz="3600" dirty="0">
              <a:solidFill>
                <a:schemeClr val="accent3"/>
              </a:solidFill>
              <a:latin typeface="Century" panose="02040604050505020304" pitchFamily="18" charset="0"/>
            </a:endParaRPr>
          </a:p>
        </p:txBody>
      </p:sp>
      <p:sp>
        <p:nvSpPr>
          <p:cNvPr id="3" name="Google Shape;486;p37"/>
          <p:cNvSpPr txBox="1">
            <a:spLocks/>
          </p:cNvSpPr>
          <p:nvPr/>
        </p:nvSpPr>
        <p:spPr>
          <a:xfrm>
            <a:off x="1013378" y="1659716"/>
            <a:ext cx="7117244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●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hivo"/>
              <a:buChar char="○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hivo"/>
              <a:buChar char="■"/>
              <a:defRPr sz="1400" b="0" i="0" u="none" strike="noStrike" cap="none">
                <a:solidFill>
                  <a:srgbClr val="434343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160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Bookman Old Style" pitchFamily="18" charset="0"/>
              </a:rPr>
              <a:t>МИНИМУМ ТРИ</a:t>
            </a:r>
          </a:p>
          <a:p>
            <a:pPr marL="0" indent="180975">
              <a:buNone/>
            </a:pPr>
            <a:endParaRPr lang="ru-RU" sz="1600" b="1" dirty="0">
              <a:solidFill>
                <a:schemeClr val="tx1">
                  <a:lumMod val="90000"/>
                  <a:lumOff val="10000"/>
                </a:schemeClr>
              </a:solidFill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60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249</Words>
  <Application>Microsoft Office PowerPoint</Application>
  <PresentationFormat>Экран (16:9)</PresentationFormat>
  <Paragraphs>64</Paragraphs>
  <Slides>15</Slides>
  <Notes>15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Arial</vt:lpstr>
      <vt:lpstr>Century</vt:lpstr>
      <vt:lpstr>Calistoga</vt:lpstr>
      <vt:lpstr>Chivo</vt:lpstr>
      <vt:lpstr>Gaegu</vt:lpstr>
      <vt:lpstr>Bookman Old Style</vt:lpstr>
      <vt:lpstr>Roboto Condensed Light</vt:lpstr>
      <vt:lpstr>Calibri</vt:lpstr>
      <vt:lpstr>Тема Office</vt:lpstr>
      <vt:lpstr>Тема презентации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Народные промыслы России</dc:title>
  <cp:lastModifiedBy>Кот Булочки</cp:lastModifiedBy>
  <cp:revision>16</cp:revision>
  <dcterms:modified xsi:type="dcterms:W3CDTF">2026-06-21T17:32:08Z</dcterms:modified>
</cp:coreProperties>
</file>